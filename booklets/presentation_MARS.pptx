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2"/>
  </p:notesMasterIdLst>
  <p:sldIdLst>
    <p:sldId id="256" r:id="rId2"/>
    <p:sldId id="275" r:id="rId3"/>
    <p:sldId id="266" r:id="rId4"/>
    <p:sldId id="257" r:id="rId5"/>
    <p:sldId id="258" r:id="rId6"/>
    <p:sldId id="270" r:id="rId7"/>
    <p:sldId id="276" r:id="rId8"/>
    <p:sldId id="277" r:id="rId9"/>
    <p:sldId id="278" r:id="rId10"/>
    <p:sldId id="271" r:id="rId11"/>
    <p:sldId id="267" r:id="rId12"/>
    <p:sldId id="274" r:id="rId13"/>
    <p:sldId id="268" r:id="rId14"/>
    <p:sldId id="269" r:id="rId15"/>
    <p:sldId id="273" r:id="rId16"/>
    <p:sldId id="272" r:id="rId17"/>
    <p:sldId id="259" r:id="rId18"/>
    <p:sldId id="260" r:id="rId19"/>
    <p:sldId id="261" r:id="rId20"/>
    <p:sldId id="265" r:id="rId2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5A36"/>
    <a:srgbClr val="1E1E1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895" autoAdjust="0"/>
  </p:normalViewPr>
  <p:slideViewPr>
    <p:cSldViewPr snapToGrid="0">
      <p:cViewPr>
        <p:scale>
          <a:sx n="50" d="100"/>
          <a:sy n="50" d="100"/>
        </p:scale>
        <p:origin x="1284"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524573-1109-47D4-9108-91C399AFF214}" type="datetimeFigureOut">
              <a:rPr lang="it-IT" smtClean="0"/>
              <a:t>09/03/2026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F9E47F-1B7C-44EE-9070-1CB85999C19C}" type="slidenum">
              <a:rPr lang="it-IT" smtClean="0"/>
              <a:t>‹#›</a:t>
            </a:fld>
            <a:endParaRPr lang="it-IT"/>
          </a:p>
        </p:txBody>
      </p:sp>
    </p:spTree>
    <p:extLst>
      <p:ext uri="{BB962C8B-B14F-4D97-AF65-F5344CB8AC3E}">
        <p14:creationId xmlns:p14="http://schemas.microsoft.com/office/powerpoint/2010/main" val="188559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brief overview of what we are going to discuss today. We will start by outlining the main challenges of managing the Martian habitat, move on to our system requirements and architectural choices, dive into the specific microservices we built, and finally conclude with a live demonstration of the working platform."</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2</a:t>
            </a:fld>
            <a:endParaRPr lang="it-IT"/>
          </a:p>
        </p:txBody>
      </p:sp>
    </p:spTree>
    <p:extLst>
      <p:ext uri="{BB962C8B-B14F-4D97-AF65-F5344CB8AC3E}">
        <p14:creationId xmlns:p14="http://schemas.microsoft.com/office/powerpoint/2010/main" val="1545025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challenge wasn't just reading sensors, but managing chaos. Devices on Mars speak different languages, with completely unstandardized JSON formats. Furthermore, a critical environment requires a fault-tolerant architecture: if the dashboard crashes, the life-support ventilation system must keep running.</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3</a:t>
            </a:fld>
            <a:endParaRPr lang="it-IT"/>
          </a:p>
        </p:txBody>
      </p:sp>
    </p:spTree>
    <p:extLst>
      <p:ext uri="{BB962C8B-B14F-4D97-AF65-F5344CB8AC3E}">
        <p14:creationId xmlns:p14="http://schemas.microsoft.com/office/powerpoint/2010/main" val="11226381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technical goals were clear: build a system capable of extracting this messy data, translating it into a unified standard, and using it to fuel an autonomous decision engine, all while providing operators with a real-time, comprehensive control interface."</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4</a:t>
            </a:fld>
            <a:endParaRPr lang="it-IT"/>
          </a:p>
        </p:txBody>
      </p:sp>
    </p:spTree>
    <p:extLst>
      <p:ext uri="{BB962C8B-B14F-4D97-AF65-F5344CB8AC3E}">
        <p14:creationId xmlns:p14="http://schemas.microsoft.com/office/powerpoint/2010/main" val="3753094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jumping straight into coding, we took a methodical approach. We started with the operator's needs by defining the User Stories. Then, we designed the 'Contracts'—our JSON schemas—and only after mapping out the architecture did we begin developing the isolated microservices."</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5</a:t>
            </a:fld>
            <a:endParaRPr lang="it-IT"/>
          </a:p>
        </p:txBody>
      </p:sp>
    </p:spTree>
    <p:extLst>
      <p:ext uri="{BB962C8B-B14F-4D97-AF65-F5344CB8AC3E}">
        <p14:creationId xmlns:p14="http://schemas.microsoft.com/office/powerpoint/2010/main" val="194341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of our core User Stories. I want to highlight the last one: in a Martian base, a life-saving automation rule cannot just disappear from RAM due to a power surge. Persistence is a vital requirement."</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6</a:t>
            </a:fld>
            <a:endParaRPr lang="it-IT"/>
          </a:p>
        </p:txBody>
      </p:sp>
    </p:spTree>
    <p:extLst>
      <p:ext uri="{BB962C8B-B14F-4D97-AF65-F5344CB8AC3E}">
        <p14:creationId xmlns:p14="http://schemas.microsoft.com/office/powerpoint/2010/main" val="156874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F33E3-163A-202B-8B57-DFF74CAC2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F6CFA0-07D3-0B6B-A7C2-EFF5F1DC2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CFB41F-914D-4DD3-77FE-F78AEEBFAF2E}"/>
              </a:ext>
            </a:extLst>
          </p:cNvPr>
          <p:cNvSpPr>
            <a:spLocks noGrp="1"/>
          </p:cNvSpPr>
          <p:nvPr>
            <p:ph type="body" idx="1"/>
          </p:nvPr>
        </p:nvSpPr>
        <p:spPr/>
        <p:txBody>
          <a:bodyPr/>
          <a:lstStyle/>
          <a:p>
            <a:r>
              <a:rPr lang="en-US" dirty="0"/>
              <a:t>"Here are some of our core User Stories. I want to highlight the last one: in a Martian base, a life-saving automation rule cannot just disappear from RAM due to a power surge. Persistence is a vital requirement."</a:t>
            </a:r>
            <a:endParaRPr lang="it-IT" dirty="0"/>
          </a:p>
        </p:txBody>
      </p:sp>
      <p:sp>
        <p:nvSpPr>
          <p:cNvPr id="4" name="Slide Number Placeholder 3">
            <a:extLst>
              <a:ext uri="{FF2B5EF4-FFF2-40B4-BE49-F238E27FC236}">
                <a16:creationId xmlns:a16="http://schemas.microsoft.com/office/drawing/2014/main" id="{0A2ED7CA-42C3-4215-E2C3-1BCCE1A0EECA}"/>
              </a:ext>
            </a:extLst>
          </p:cNvPr>
          <p:cNvSpPr>
            <a:spLocks noGrp="1"/>
          </p:cNvSpPr>
          <p:nvPr>
            <p:ph type="sldNum" sz="quarter" idx="5"/>
          </p:nvPr>
        </p:nvSpPr>
        <p:spPr/>
        <p:txBody>
          <a:bodyPr/>
          <a:lstStyle/>
          <a:p>
            <a:fld id="{6AF9E47F-1B7C-44EE-9070-1CB85999C19C}" type="slidenum">
              <a:rPr lang="it-IT" smtClean="0"/>
              <a:t>7</a:t>
            </a:fld>
            <a:endParaRPr lang="it-IT"/>
          </a:p>
        </p:txBody>
      </p:sp>
    </p:spTree>
    <p:extLst>
      <p:ext uri="{BB962C8B-B14F-4D97-AF65-F5344CB8AC3E}">
        <p14:creationId xmlns:p14="http://schemas.microsoft.com/office/powerpoint/2010/main" val="26448769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885C8-3BC5-C6BB-3705-CB4044D9A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0B998F-364C-E169-CC80-2DC77D41F6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164C78-8398-38D9-4392-4CFA0ABD9B23}"/>
              </a:ext>
            </a:extLst>
          </p:cNvPr>
          <p:cNvSpPr>
            <a:spLocks noGrp="1"/>
          </p:cNvSpPr>
          <p:nvPr>
            <p:ph type="body" idx="1"/>
          </p:nvPr>
        </p:nvSpPr>
        <p:spPr/>
        <p:txBody>
          <a:bodyPr/>
          <a:lstStyle/>
          <a:p>
            <a:r>
              <a:rPr lang="en-US" dirty="0"/>
              <a:t>"Here are some of our core User Stories. I want to highlight the last one: in a Martian base, a life-saving automation rule cannot just disappear from RAM due to a power surge. Persistence is a vital requirement."</a:t>
            </a:r>
            <a:endParaRPr lang="it-IT" dirty="0"/>
          </a:p>
        </p:txBody>
      </p:sp>
      <p:sp>
        <p:nvSpPr>
          <p:cNvPr id="4" name="Slide Number Placeholder 3">
            <a:extLst>
              <a:ext uri="{FF2B5EF4-FFF2-40B4-BE49-F238E27FC236}">
                <a16:creationId xmlns:a16="http://schemas.microsoft.com/office/drawing/2014/main" id="{A45F11D1-1975-009E-FAD2-672B483CF364}"/>
              </a:ext>
            </a:extLst>
          </p:cNvPr>
          <p:cNvSpPr>
            <a:spLocks noGrp="1"/>
          </p:cNvSpPr>
          <p:nvPr>
            <p:ph type="sldNum" sz="quarter" idx="5"/>
          </p:nvPr>
        </p:nvSpPr>
        <p:spPr/>
        <p:txBody>
          <a:bodyPr/>
          <a:lstStyle/>
          <a:p>
            <a:fld id="{6AF9E47F-1B7C-44EE-9070-1CB85999C19C}" type="slidenum">
              <a:rPr lang="it-IT" smtClean="0"/>
              <a:t>8</a:t>
            </a:fld>
            <a:endParaRPr lang="it-IT"/>
          </a:p>
        </p:txBody>
      </p:sp>
    </p:spTree>
    <p:extLst>
      <p:ext uri="{BB962C8B-B14F-4D97-AF65-F5344CB8AC3E}">
        <p14:creationId xmlns:p14="http://schemas.microsoft.com/office/powerpoint/2010/main" val="4115426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'Contract'. No matter what sensor is connected to the base, our normalizer will translate it into this exact standard schema on the left. On the right, you can see the data model for our mathematical automation rules."</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10</a:t>
            </a:fld>
            <a:endParaRPr lang="it-IT"/>
          </a:p>
        </p:txBody>
      </p:sp>
    </p:spTree>
    <p:extLst>
      <p:ext uri="{BB962C8B-B14F-4D97-AF65-F5344CB8AC3E}">
        <p14:creationId xmlns:p14="http://schemas.microsoft.com/office/powerpoint/2010/main" val="16364558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meet the strict design constraints, we immediately discarded the monolithic approach. We separated data ingestion, processing, and presentation into different services, linking them all together using RabbitMQ as our message broker."</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11</a:t>
            </a:fld>
            <a:endParaRPr lang="it-IT"/>
          </a:p>
        </p:txBody>
      </p:sp>
    </p:spTree>
    <p:extLst>
      <p:ext uri="{BB962C8B-B14F-4D97-AF65-F5344CB8AC3E}">
        <p14:creationId xmlns:p14="http://schemas.microsoft.com/office/powerpoint/2010/main" val="45629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infrastructure. The data flow moves from left to right. Our microservices never talk to each other directly via REST APIs; they communicate exclusively by publishing and consuming messages from RabbitMQ queues. This guarantees absolute decoupling."</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12</a:t>
            </a:fld>
            <a:endParaRPr lang="it-IT"/>
          </a:p>
        </p:txBody>
      </p:sp>
    </p:spTree>
    <p:extLst>
      <p:ext uri="{BB962C8B-B14F-4D97-AF65-F5344CB8AC3E}">
        <p14:creationId xmlns:p14="http://schemas.microsoft.com/office/powerpoint/2010/main" val="3489942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sequence diagram shows the true power of the Pub/Sub pattern. Once the data is cleaned, it's published to a 'Fanout Exchange'. RabbitMQ acts like a megaphone, cloning the message in real-time and delivering it simultaneously to both the API—to update the charts—and the Rule Engine—to trigger the physical actuators."</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14</a:t>
            </a:fld>
            <a:endParaRPr lang="it-IT"/>
          </a:p>
        </p:txBody>
      </p:sp>
    </p:spTree>
    <p:extLst>
      <p:ext uri="{BB962C8B-B14F-4D97-AF65-F5344CB8AC3E}">
        <p14:creationId xmlns:p14="http://schemas.microsoft.com/office/powerpoint/2010/main" val="34821889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entire ecosystem has been containerized. Using </a:t>
            </a:r>
            <a:r>
              <a:rPr lang="en-US" sz="1200" kern="1200" dirty="0">
                <a:solidFill>
                  <a:schemeClr val="tx1"/>
                </a:solidFill>
                <a:latin typeface="+mn-lt"/>
                <a:ea typeface="+mn-ea"/>
                <a:cs typeface="+mn-cs"/>
              </a:rPr>
              <a:t>docker-compose</a:t>
            </a:r>
            <a:r>
              <a:rPr lang="en-US" dirty="0"/>
              <a:t>, we can spin up the simulator, RabbitMQ, the backend, and the frontend within a single, isolated virtual network."</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15</a:t>
            </a:fld>
            <a:endParaRPr lang="it-IT"/>
          </a:p>
        </p:txBody>
      </p:sp>
    </p:spTree>
    <p:extLst>
      <p:ext uri="{BB962C8B-B14F-4D97-AF65-F5344CB8AC3E}">
        <p14:creationId xmlns:p14="http://schemas.microsoft.com/office/powerpoint/2010/main" val="19448627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guarantee persistence without overloading the system, we used SQLite mounted on a Docker Shared Volume. The APIs write the rules into this database file, and the Rule Engine reads from the exact same file. Even if the Python containers crash, the rules remain safely on the disk."</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16</a:t>
            </a:fld>
            <a:endParaRPr lang="it-IT"/>
          </a:p>
        </p:txBody>
      </p:sp>
    </p:spTree>
    <p:extLst>
      <p:ext uri="{BB962C8B-B14F-4D97-AF65-F5344CB8AC3E}">
        <p14:creationId xmlns:p14="http://schemas.microsoft.com/office/powerpoint/2010/main" val="1571921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the components, the </a:t>
            </a:r>
            <a:r>
              <a:rPr lang="en-US" dirty="0" err="1"/>
              <a:t>Ingestor</a:t>
            </a:r>
            <a:r>
              <a:rPr lang="en-US" dirty="0"/>
              <a:t> is our extractor. It acts as a 'Dumb Pipe'. It does the dirty work without asking questions: it grabs the chaotic JSON payloads and injects them completely raw into the first RabbitMQ queue."</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17</a:t>
            </a:fld>
            <a:endParaRPr lang="it-IT"/>
          </a:p>
        </p:txBody>
      </p:sp>
    </p:spTree>
    <p:extLst>
      <p:ext uri="{BB962C8B-B14F-4D97-AF65-F5344CB8AC3E}">
        <p14:creationId xmlns:p14="http://schemas.microsoft.com/office/powerpoint/2010/main" val="28466834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processing layer is the beating heart of the system. The Normalizer acts as a universal translator. The Rule Engine listens to the clean data and, completely autonomously, queries the SQLite database and sends POST commands to the simulator if vital parameters fall out of bounds."</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18</a:t>
            </a:fld>
            <a:endParaRPr lang="it-IT"/>
          </a:p>
        </p:txBody>
      </p:sp>
    </p:spTree>
    <p:extLst>
      <p:ext uri="{BB962C8B-B14F-4D97-AF65-F5344CB8AC3E}">
        <p14:creationId xmlns:p14="http://schemas.microsoft.com/office/powerpoint/2010/main" val="31388401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human interface. The </a:t>
            </a:r>
            <a:r>
              <a:rPr lang="en-US" dirty="0" err="1"/>
              <a:t>FastAPI</a:t>
            </a:r>
            <a:r>
              <a:rPr lang="en-US" dirty="0"/>
              <a:t> server maintains a real-time snapshot of the base's latest known state directly in its RAM. This allows the web dashboard to fetch data and load charts with absolute zero latency."</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19</a:t>
            </a:fld>
            <a:endParaRPr lang="it-IT"/>
          </a:p>
        </p:txBody>
      </p:sp>
    </p:spTree>
    <p:extLst>
      <p:ext uri="{BB962C8B-B14F-4D97-AF65-F5344CB8AC3E}">
        <p14:creationId xmlns:p14="http://schemas.microsoft.com/office/powerpoint/2010/main" val="5374508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presentation of our architecture. Now, let's switch to the terminal and the dashboard to show you </a:t>
            </a:r>
            <a:r>
              <a:rPr lang="en-US" dirty="0" err="1"/>
              <a:t>MarsOps</a:t>
            </a:r>
            <a:r>
              <a:rPr lang="en-US" dirty="0"/>
              <a:t> in action."</a:t>
            </a:r>
            <a:endParaRPr lang="it-IT" dirty="0"/>
          </a:p>
        </p:txBody>
      </p:sp>
      <p:sp>
        <p:nvSpPr>
          <p:cNvPr id="4" name="Slide Number Placeholder 3"/>
          <p:cNvSpPr>
            <a:spLocks noGrp="1"/>
          </p:cNvSpPr>
          <p:nvPr>
            <p:ph type="sldNum" sz="quarter" idx="5"/>
          </p:nvPr>
        </p:nvSpPr>
        <p:spPr/>
        <p:txBody>
          <a:bodyPr/>
          <a:lstStyle/>
          <a:p>
            <a:fld id="{6AF9E47F-1B7C-44EE-9070-1CB85999C19C}" type="slidenum">
              <a:rPr lang="it-IT" smtClean="0"/>
              <a:t>20</a:t>
            </a:fld>
            <a:endParaRPr lang="it-IT"/>
          </a:p>
        </p:txBody>
      </p:sp>
    </p:spTree>
    <p:extLst>
      <p:ext uri="{BB962C8B-B14F-4D97-AF65-F5344CB8AC3E}">
        <p14:creationId xmlns:p14="http://schemas.microsoft.com/office/powerpoint/2010/main" val="1127360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E45F0-B331-4338-A7B4-72DE2D89230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it-IT"/>
          </a:p>
        </p:txBody>
      </p:sp>
      <p:sp>
        <p:nvSpPr>
          <p:cNvPr id="3" name="Subtitle 2">
            <a:extLst>
              <a:ext uri="{FF2B5EF4-FFF2-40B4-BE49-F238E27FC236}">
                <a16:creationId xmlns:a16="http://schemas.microsoft.com/office/drawing/2014/main" id="{C84386AE-3D84-3BF8-C5FC-7865E5CE01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it-IT"/>
          </a:p>
        </p:txBody>
      </p:sp>
      <p:sp>
        <p:nvSpPr>
          <p:cNvPr id="4" name="Date Placeholder 3">
            <a:extLst>
              <a:ext uri="{FF2B5EF4-FFF2-40B4-BE49-F238E27FC236}">
                <a16:creationId xmlns:a16="http://schemas.microsoft.com/office/drawing/2014/main" id="{2D253E0B-9EBA-8E0D-F94C-71DDA8AE7EF0}"/>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5" name="Footer Placeholder 4">
            <a:extLst>
              <a:ext uri="{FF2B5EF4-FFF2-40B4-BE49-F238E27FC236}">
                <a16:creationId xmlns:a16="http://schemas.microsoft.com/office/drawing/2014/main" id="{AB390F1C-7BCD-E511-73D2-F93F4B9623EA}"/>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BAA26049-998D-9004-4C3F-4776E58E18A8}"/>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2768970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6A2FA-5A17-07F8-3D94-EE43449FB221}"/>
              </a:ext>
            </a:extLst>
          </p:cNvPr>
          <p:cNvSpPr>
            <a:spLocks noGrp="1"/>
          </p:cNvSpPr>
          <p:nvPr>
            <p:ph type="title"/>
          </p:nvPr>
        </p:nvSpPr>
        <p:spPr/>
        <p:txBody>
          <a:bodyPr/>
          <a:lstStyle/>
          <a:p>
            <a:r>
              <a:rPr lang="en-GB"/>
              <a:t>Click to edit Master title style</a:t>
            </a:r>
            <a:endParaRPr lang="it-IT"/>
          </a:p>
        </p:txBody>
      </p:sp>
      <p:sp>
        <p:nvSpPr>
          <p:cNvPr id="3" name="Content Placeholder 2">
            <a:extLst>
              <a:ext uri="{FF2B5EF4-FFF2-40B4-BE49-F238E27FC236}">
                <a16:creationId xmlns:a16="http://schemas.microsoft.com/office/drawing/2014/main" id="{6794880B-F7C8-20ED-6839-3F6E520E577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92A77060-C632-2B50-DDD2-26209AFD2F2C}"/>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5" name="Footer Placeholder 4">
            <a:extLst>
              <a:ext uri="{FF2B5EF4-FFF2-40B4-BE49-F238E27FC236}">
                <a16:creationId xmlns:a16="http://schemas.microsoft.com/office/drawing/2014/main" id="{16DB6520-57E6-1000-0017-93A5C471B10A}"/>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F1DD21EC-45DE-63A7-8A46-6A100D2C9EB6}"/>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2788879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422B8-6097-7AF9-BF94-E8C3F4F401F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it-IT"/>
          </a:p>
        </p:txBody>
      </p:sp>
      <p:sp>
        <p:nvSpPr>
          <p:cNvPr id="3" name="Text Placeholder 2">
            <a:extLst>
              <a:ext uri="{FF2B5EF4-FFF2-40B4-BE49-F238E27FC236}">
                <a16:creationId xmlns:a16="http://schemas.microsoft.com/office/drawing/2014/main" id="{C8A6C6E0-4834-9025-5356-3C204D5B8E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C7B06D9-638B-AF8F-4EE9-DCF68D100069}"/>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5" name="Footer Placeholder 4">
            <a:extLst>
              <a:ext uri="{FF2B5EF4-FFF2-40B4-BE49-F238E27FC236}">
                <a16:creationId xmlns:a16="http://schemas.microsoft.com/office/drawing/2014/main" id="{E3A59A2E-3104-7062-0DDE-53E0CCCA64C8}"/>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3A29C548-E4A7-1DBF-F89C-9CB0B38BE630}"/>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86977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00A17-D167-2436-A23C-CD91E0758C37}"/>
              </a:ext>
            </a:extLst>
          </p:cNvPr>
          <p:cNvSpPr>
            <a:spLocks noGrp="1"/>
          </p:cNvSpPr>
          <p:nvPr>
            <p:ph type="title"/>
          </p:nvPr>
        </p:nvSpPr>
        <p:spPr/>
        <p:txBody>
          <a:bodyPr/>
          <a:lstStyle/>
          <a:p>
            <a:r>
              <a:rPr lang="en-GB"/>
              <a:t>Click to edit Master title style</a:t>
            </a:r>
            <a:endParaRPr lang="it-IT"/>
          </a:p>
        </p:txBody>
      </p:sp>
      <p:sp>
        <p:nvSpPr>
          <p:cNvPr id="3" name="Content Placeholder 2">
            <a:extLst>
              <a:ext uri="{FF2B5EF4-FFF2-40B4-BE49-F238E27FC236}">
                <a16:creationId xmlns:a16="http://schemas.microsoft.com/office/drawing/2014/main" id="{9CAC8D62-B585-30A4-A038-F039E8624B0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Content Placeholder 3">
            <a:extLst>
              <a:ext uri="{FF2B5EF4-FFF2-40B4-BE49-F238E27FC236}">
                <a16:creationId xmlns:a16="http://schemas.microsoft.com/office/drawing/2014/main" id="{1A3822A0-39BF-8EFB-CF66-445BD4E766D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5" name="Date Placeholder 4">
            <a:extLst>
              <a:ext uri="{FF2B5EF4-FFF2-40B4-BE49-F238E27FC236}">
                <a16:creationId xmlns:a16="http://schemas.microsoft.com/office/drawing/2014/main" id="{B45A91FB-3200-58AB-460B-103719701496}"/>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6" name="Footer Placeholder 5">
            <a:extLst>
              <a:ext uri="{FF2B5EF4-FFF2-40B4-BE49-F238E27FC236}">
                <a16:creationId xmlns:a16="http://schemas.microsoft.com/office/drawing/2014/main" id="{62CB3895-A28C-99A0-01D8-5595A2B15C70}"/>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9F908ACB-D102-2EB1-D23A-F05AF95C775F}"/>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34802785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5BA98-3016-488B-00B6-8B159A0DB292}"/>
              </a:ext>
            </a:extLst>
          </p:cNvPr>
          <p:cNvSpPr>
            <a:spLocks noGrp="1"/>
          </p:cNvSpPr>
          <p:nvPr>
            <p:ph type="title"/>
          </p:nvPr>
        </p:nvSpPr>
        <p:spPr>
          <a:xfrm>
            <a:off x="839788" y="365125"/>
            <a:ext cx="10515600" cy="1325563"/>
          </a:xfrm>
        </p:spPr>
        <p:txBody>
          <a:bodyPr/>
          <a:lstStyle/>
          <a:p>
            <a:r>
              <a:rPr lang="en-GB"/>
              <a:t>Click to edit Master title style</a:t>
            </a:r>
            <a:endParaRPr lang="it-IT"/>
          </a:p>
        </p:txBody>
      </p:sp>
      <p:sp>
        <p:nvSpPr>
          <p:cNvPr id="3" name="Text Placeholder 2">
            <a:extLst>
              <a:ext uri="{FF2B5EF4-FFF2-40B4-BE49-F238E27FC236}">
                <a16:creationId xmlns:a16="http://schemas.microsoft.com/office/drawing/2014/main" id="{803041A6-7C47-6D75-8CFB-E134CF2F1C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659BC408-2E68-A207-0C95-3F8F58A833D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5" name="Text Placeholder 4">
            <a:extLst>
              <a:ext uri="{FF2B5EF4-FFF2-40B4-BE49-F238E27FC236}">
                <a16:creationId xmlns:a16="http://schemas.microsoft.com/office/drawing/2014/main" id="{665A87A4-DD38-656A-9B69-4EEAF006F2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0D8F9CC-8D26-402E-9475-ED71F9EAFB2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7" name="Date Placeholder 6">
            <a:extLst>
              <a:ext uri="{FF2B5EF4-FFF2-40B4-BE49-F238E27FC236}">
                <a16:creationId xmlns:a16="http://schemas.microsoft.com/office/drawing/2014/main" id="{B810560B-C227-401F-9141-6E1CDC1E3838}"/>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8" name="Footer Placeholder 7">
            <a:extLst>
              <a:ext uri="{FF2B5EF4-FFF2-40B4-BE49-F238E27FC236}">
                <a16:creationId xmlns:a16="http://schemas.microsoft.com/office/drawing/2014/main" id="{1BFE95B8-6264-13AE-2096-64751FD2D2DE}"/>
              </a:ext>
            </a:extLst>
          </p:cNvPr>
          <p:cNvSpPr>
            <a:spLocks noGrp="1"/>
          </p:cNvSpPr>
          <p:nvPr>
            <p:ph type="ftr" sz="quarter" idx="11"/>
          </p:nvPr>
        </p:nvSpPr>
        <p:spPr/>
        <p:txBody>
          <a:bodyPr/>
          <a:lstStyle/>
          <a:p>
            <a:endParaRPr lang="it-IT"/>
          </a:p>
        </p:txBody>
      </p:sp>
      <p:sp>
        <p:nvSpPr>
          <p:cNvPr id="9" name="Slide Number Placeholder 8">
            <a:extLst>
              <a:ext uri="{FF2B5EF4-FFF2-40B4-BE49-F238E27FC236}">
                <a16:creationId xmlns:a16="http://schemas.microsoft.com/office/drawing/2014/main" id="{CF310747-5AAC-7AD7-6387-9A81C6A9E706}"/>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2557423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0AE19-2138-9B0A-0F87-2B5D3D993D95}"/>
              </a:ext>
            </a:extLst>
          </p:cNvPr>
          <p:cNvSpPr>
            <a:spLocks noGrp="1"/>
          </p:cNvSpPr>
          <p:nvPr>
            <p:ph type="title"/>
          </p:nvPr>
        </p:nvSpPr>
        <p:spPr/>
        <p:txBody>
          <a:bodyPr/>
          <a:lstStyle/>
          <a:p>
            <a:r>
              <a:rPr lang="en-GB"/>
              <a:t>Click to edit Master title style</a:t>
            </a:r>
            <a:endParaRPr lang="it-IT"/>
          </a:p>
        </p:txBody>
      </p:sp>
      <p:sp>
        <p:nvSpPr>
          <p:cNvPr id="3" name="Date Placeholder 2">
            <a:extLst>
              <a:ext uri="{FF2B5EF4-FFF2-40B4-BE49-F238E27FC236}">
                <a16:creationId xmlns:a16="http://schemas.microsoft.com/office/drawing/2014/main" id="{0348B432-1A48-0003-B353-A3A43F32DCDD}"/>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4" name="Footer Placeholder 3">
            <a:extLst>
              <a:ext uri="{FF2B5EF4-FFF2-40B4-BE49-F238E27FC236}">
                <a16:creationId xmlns:a16="http://schemas.microsoft.com/office/drawing/2014/main" id="{FE8704C6-ED59-87DD-CBDC-38719D4C7015}"/>
              </a:ext>
            </a:extLst>
          </p:cNvPr>
          <p:cNvSpPr>
            <a:spLocks noGrp="1"/>
          </p:cNvSpPr>
          <p:nvPr>
            <p:ph type="ftr" sz="quarter" idx="11"/>
          </p:nvPr>
        </p:nvSpPr>
        <p:spPr/>
        <p:txBody>
          <a:bodyPr/>
          <a:lstStyle/>
          <a:p>
            <a:endParaRPr lang="it-IT"/>
          </a:p>
        </p:txBody>
      </p:sp>
      <p:sp>
        <p:nvSpPr>
          <p:cNvPr id="5" name="Slide Number Placeholder 4">
            <a:extLst>
              <a:ext uri="{FF2B5EF4-FFF2-40B4-BE49-F238E27FC236}">
                <a16:creationId xmlns:a16="http://schemas.microsoft.com/office/drawing/2014/main" id="{78F9FCCF-CF40-2174-F08E-C0545B70BA56}"/>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3960405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AAC7EA-0182-FD8B-65C8-437DD4A44322}"/>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3" name="Footer Placeholder 2">
            <a:extLst>
              <a:ext uri="{FF2B5EF4-FFF2-40B4-BE49-F238E27FC236}">
                <a16:creationId xmlns:a16="http://schemas.microsoft.com/office/drawing/2014/main" id="{9125CE87-DD00-4B7E-7D68-CBC2E177A1D3}"/>
              </a:ext>
            </a:extLst>
          </p:cNvPr>
          <p:cNvSpPr>
            <a:spLocks noGrp="1"/>
          </p:cNvSpPr>
          <p:nvPr>
            <p:ph type="ftr" sz="quarter" idx="11"/>
          </p:nvPr>
        </p:nvSpPr>
        <p:spPr/>
        <p:txBody>
          <a:bodyPr/>
          <a:lstStyle/>
          <a:p>
            <a:endParaRPr lang="it-IT"/>
          </a:p>
        </p:txBody>
      </p:sp>
      <p:sp>
        <p:nvSpPr>
          <p:cNvPr id="4" name="Slide Number Placeholder 3">
            <a:extLst>
              <a:ext uri="{FF2B5EF4-FFF2-40B4-BE49-F238E27FC236}">
                <a16:creationId xmlns:a16="http://schemas.microsoft.com/office/drawing/2014/main" id="{B23B7BCC-B491-542B-835F-EC4D5A9EAD54}"/>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2112935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1FB5-20C4-B717-0F84-B567920856F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it-IT"/>
          </a:p>
        </p:txBody>
      </p:sp>
      <p:sp>
        <p:nvSpPr>
          <p:cNvPr id="3" name="Content Placeholder 2">
            <a:extLst>
              <a:ext uri="{FF2B5EF4-FFF2-40B4-BE49-F238E27FC236}">
                <a16:creationId xmlns:a16="http://schemas.microsoft.com/office/drawing/2014/main" id="{C0D18A48-A071-6E83-280C-62B4A09763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Text Placeholder 3">
            <a:extLst>
              <a:ext uri="{FF2B5EF4-FFF2-40B4-BE49-F238E27FC236}">
                <a16:creationId xmlns:a16="http://schemas.microsoft.com/office/drawing/2014/main" id="{A7E9416A-3F77-9A9A-AE07-04396399B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BE29C8-CABF-2808-2AC7-2BA4FEA6C53F}"/>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6" name="Footer Placeholder 5">
            <a:extLst>
              <a:ext uri="{FF2B5EF4-FFF2-40B4-BE49-F238E27FC236}">
                <a16:creationId xmlns:a16="http://schemas.microsoft.com/office/drawing/2014/main" id="{E93068CF-28C4-D496-6DEB-93E41443091E}"/>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272CB010-A6B8-D7AF-6D94-316A19EFB74A}"/>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77504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4A03C-0291-F934-3B11-1F03E0D2E1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it-IT"/>
          </a:p>
        </p:txBody>
      </p:sp>
      <p:sp>
        <p:nvSpPr>
          <p:cNvPr id="3" name="Picture Placeholder 2">
            <a:extLst>
              <a:ext uri="{FF2B5EF4-FFF2-40B4-BE49-F238E27FC236}">
                <a16:creationId xmlns:a16="http://schemas.microsoft.com/office/drawing/2014/main" id="{4DFD7CAA-33E4-7220-F462-298B4B75E8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Text Placeholder 3">
            <a:extLst>
              <a:ext uri="{FF2B5EF4-FFF2-40B4-BE49-F238E27FC236}">
                <a16:creationId xmlns:a16="http://schemas.microsoft.com/office/drawing/2014/main" id="{BE8055C7-7C0F-B419-CE81-E21BB65033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CFDDD8E-E481-8D5A-4868-8C7E796E922F}"/>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6" name="Footer Placeholder 5">
            <a:extLst>
              <a:ext uri="{FF2B5EF4-FFF2-40B4-BE49-F238E27FC236}">
                <a16:creationId xmlns:a16="http://schemas.microsoft.com/office/drawing/2014/main" id="{1AE93DA7-AEFD-2593-7453-F6A4E5663D70}"/>
              </a:ext>
            </a:extLst>
          </p:cNvPr>
          <p:cNvSpPr>
            <a:spLocks noGrp="1"/>
          </p:cNvSpPr>
          <p:nvPr>
            <p:ph type="ftr" sz="quarter" idx="11"/>
          </p:nvPr>
        </p:nvSpPr>
        <p:spPr/>
        <p:txBody>
          <a:bodyPr/>
          <a:lstStyle/>
          <a:p>
            <a:endParaRPr lang="it-IT"/>
          </a:p>
        </p:txBody>
      </p:sp>
      <p:sp>
        <p:nvSpPr>
          <p:cNvPr id="7" name="Slide Number Placeholder 6">
            <a:extLst>
              <a:ext uri="{FF2B5EF4-FFF2-40B4-BE49-F238E27FC236}">
                <a16:creationId xmlns:a16="http://schemas.microsoft.com/office/drawing/2014/main" id="{2619781E-906E-F3CC-18B8-CAC96B8D8F0B}"/>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11074857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4ACCD-0B8C-B019-42BA-957722C52093}"/>
              </a:ext>
            </a:extLst>
          </p:cNvPr>
          <p:cNvSpPr>
            <a:spLocks noGrp="1"/>
          </p:cNvSpPr>
          <p:nvPr>
            <p:ph type="title"/>
          </p:nvPr>
        </p:nvSpPr>
        <p:spPr/>
        <p:txBody>
          <a:bodyPr/>
          <a:lstStyle/>
          <a:p>
            <a:r>
              <a:rPr lang="en-GB"/>
              <a:t>Click to edit Master title style</a:t>
            </a:r>
            <a:endParaRPr lang="it-IT"/>
          </a:p>
        </p:txBody>
      </p:sp>
      <p:sp>
        <p:nvSpPr>
          <p:cNvPr id="3" name="Vertical Text Placeholder 2">
            <a:extLst>
              <a:ext uri="{FF2B5EF4-FFF2-40B4-BE49-F238E27FC236}">
                <a16:creationId xmlns:a16="http://schemas.microsoft.com/office/drawing/2014/main" id="{5E16B9FE-BA99-8F57-7F43-8AF1200A2F7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75143679-65B1-641C-9DF9-A32D977644E2}"/>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5" name="Footer Placeholder 4">
            <a:extLst>
              <a:ext uri="{FF2B5EF4-FFF2-40B4-BE49-F238E27FC236}">
                <a16:creationId xmlns:a16="http://schemas.microsoft.com/office/drawing/2014/main" id="{04942D1B-70EB-F40A-AA80-A746C4C2F158}"/>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2D89F463-5CA7-1684-FCAE-9F3B59BECB6D}"/>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3589077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DAFC2E-4B8A-C790-D901-459C10937180}"/>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it-IT"/>
          </a:p>
        </p:txBody>
      </p:sp>
      <p:sp>
        <p:nvSpPr>
          <p:cNvPr id="3" name="Vertical Text Placeholder 2">
            <a:extLst>
              <a:ext uri="{FF2B5EF4-FFF2-40B4-BE49-F238E27FC236}">
                <a16:creationId xmlns:a16="http://schemas.microsoft.com/office/drawing/2014/main" id="{1B5DF51F-3780-3CD7-2249-5E88B56BBC5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29C17E5F-2407-5BE0-04C2-4B529BC1943B}"/>
              </a:ext>
            </a:extLst>
          </p:cNvPr>
          <p:cNvSpPr>
            <a:spLocks noGrp="1"/>
          </p:cNvSpPr>
          <p:nvPr>
            <p:ph type="dt" sz="half" idx="10"/>
          </p:nvPr>
        </p:nvSpPr>
        <p:spPr/>
        <p:txBody>
          <a:bodyPr/>
          <a:lstStyle/>
          <a:p>
            <a:fld id="{0A083941-FB18-4B29-89A6-CB1A6BAA14E8}" type="datetimeFigureOut">
              <a:rPr lang="it-IT" smtClean="0"/>
              <a:t>09/03/2026</a:t>
            </a:fld>
            <a:endParaRPr lang="it-IT"/>
          </a:p>
        </p:txBody>
      </p:sp>
      <p:sp>
        <p:nvSpPr>
          <p:cNvPr id="5" name="Footer Placeholder 4">
            <a:extLst>
              <a:ext uri="{FF2B5EF4-FFF2-40B4-BE49-F238E27FC236}">
                <a16:creationId xmlns:a16="http://schemas.microsoft.com/office/drawing/2014/main" id="{695AA676-727D-AB22-C3F6-64ECF611C015}"/>
              </a:ext>
            </a:extLst>
          </p:cNvPr>
          <p:cNvSpPr>
            <a:spLocks noGrp="1"/>
          </p:cNvSpPr>
          <p:nvPr>
            <p:ph type="ftr" sz="quarter" idx="11"/>
          </p:nvPr>
        </p:nvSpPr>
        <p:spPr/>
        <p:txBody>
          <a:bodyPr/>
          <a:lstStyle/>
          <a:p>
            <a:endParaRPr lang="it-IT"/>
          </a:p>
        </p:txBody>
      </p:sp>
      <p:sp>
        <p:nvSpPr>
          <p:cNvPr id="6" name="Slide Number Placeholder 5">
            <a:extLst>
              <a:ext uri="{FF2B5EF4-FFF2-40B4-BE49-F238E27FC236}">
                <a16:creationId xmlns:a16="http://schemas.microsoft.com/office/drawing/2014/main" id="{D07BBE30-DF98-738E-3187-DFA968771FAC}"/>
              </a:ext>
            </a:extLst>
          </p:cNvPr>
          <p:cNvSpPr>
            <a:spLocks noGrp="1"/>
          </p:cNvSpPr>
          <p:nvPr>
            <p:ph type="sldNum" sz="quarter" idx="12"/>
          </p:nvPr>
        </p:nvSpPr>
        <p:spPr/>
        <p:txBody>
          <a:bodyPr/>
          <a:lstStyle/>
          <a:p>
            <a:fld id="{1D681F06-51F2-4CA1-8D90-29CB688451EE}" type="slidenum">
              <a:rPr lang="it-IT" smtClean="0"/>
              <a:t>‹#›</a:t>
            </a:fld>
            <a:endParaRPr lang="it-IT"/>
          </a:p>
        </p:txBody>
      </p:sp>
    </p:spTree>
    <p:extLst>
      <p:ext uri="{BB962C8B-B14F-4D97-AF65-F5344CB8AC3E}">
        <p14:creationId xmlns:p14="http://schemas.microsoft.com/office/powerpoint/2010/main" val="1414333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681052-FF92-5C26-14E5-50748D9932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it-IT"/>
          </a:p>
        </p:txBody>
      </p:sp>
      <p:sp>
        <p:nvSpPr>
          <p:cNvPr id="3" name="Text Placeholder 2">
            <a:extLst>
              <a:ext uri="{FF2B5EF4-FFF2-40B4-BE49-F238E27FC236}">
                <a16:creationId xmlns:a16="http://schemas.microsoft.com/office/drawing/2014/main" id="{9A4090B1-F101-3D2B-5485-603D59E11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it-IT"/>
          </a:p>
        </p:txBody>
      </p:sp>
      <p:sp>
        <p:nvSpPr>
          <p:cNvPr id="4" name="Date Placeholder 3">
            <a:extLst>
              <a:ext uri="{FF2B5EF4-FFF2-40B4-BE49-F238E27FC236}">
                <a16:creationId xmlns:a16="http://schemas.microsoft.com/office/drawing/2014/main" id="{A76CF57A-1BF6-D9D3-1D42-FAB3D16390F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083941-FB18-4B29-89A6-CB1A6BAA14E8}" type="datetimeFigureOut">
              <a:rPr lang="it-IT" smtClean="0"/>
              <a:t>09/03/2026</a:t>
            </a:fld>
            <a:endParaRPr lang="it-IT"/>
          </a:p>
        </p:txBody>
      </p:sp>
      <p:sp>
        <p:nvSpPr>
          <p:cNvPr id="5" name="Footer Placeholder 4">
            <a:extLst>
              <a:ext uri="{FF2B5EF4-FFF2-40B4-BE49-F238E27FC236}">
                <a16:creationId xmlns:a16="http://schemas.microsoft.com/office/drawing/2014/main" id="{8F3BCC88-BA6E-9078-4A8F-EFF014FA2F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lide Number Placeholder 5">
            <a:extLst>
              <a:ext uri="{FF2B5EF4-FFF2-40B4-BE49-F238E27FC236}">
                <a16:creationId xmlns:a16="http://schemas.microsoft.com/office/drawing/2014/main" id="{2FB9EEC8-98A8-1A74-EC2E-5647C4F8F1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D681F06-51F2-4CA1-8D90-29CB688451EE}" type="slidenum">
              <a:rPr lang="it-IT" smtClean="0"/>
              <a:t>‹#›</a:t>
            </a:fld>
            <a:endParaRPr lang="it-IT"/>
          </a:p>
        </p:txBody>
      </p:sp>
    </p:spTree>
    <p:extLst>
      <p:ext uri="{BB962C8B-B14F-4D97-AF65-F5344CB8AC3E}">
        <p14:creationId xmlns:p14="http://schemas.microsoft.com/office/powerpoint/2010/main" val="339450355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abdulkader2230150-creator/2230150_promptEngineers"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5BBBA-1D14-1C6C-BBD5-7D6B9427E0A8}"/>
              </a:ext>
            </a:extLst>
          </p:cNvPr>
          <p:cNvSpPr>
            <a:spLocks noGrp="1"/>
          </p:cNvSpPr>
          <p:nvPr>
            <p:ph type="ctrTitle"/>
          </p:nvPr>
        </p:nvSpPr>
        <p:spPr/>
        <p:txBody>
          <a:bodyPr/>
          <a:lstStyle/>
          <a:p>
            <a:r>
              <a:rPr lang="en-US" b="1" dirty="0">
                <a:solidFill>
                  <a:srgbClr val="FF5A36"/>
                </a:solidFill>
                <a:latin typeface="Arial Black" panose="020B0A04020102020204" pitchFamily="34" charset="0"/>
              </a:rPr>
              <a:t>“Welcome to Mars. Please Don’t Die.”</a:t>
            </a:r>
            <a:endParaRPr lang="it-IT" dirty="0">
              <a:solidFill>
                <a:srgbClr val="FF5A36"/>
              </a:solidFill>
              <a:latin typeface="Arial Black" panose="020B0A04020102020204" pitchFamily="34" charset="0"/>
            </a:endParaRPr>
          </a:p>
        </p:txBody>
      </p:sp>
      <p:sp>
        <p:nvSpPr>
          <p:cNvPr id="3" name="Subtitle 2">
            <a:extLst>
              <a:ext uri="{FF2B5EF4-FFF2-40B4-BE49-F238E27FC236}">
                <a16:creationId xmlns:a16="http://schemas.microsoft.com/office/drawing/2014/main" id="{003B8F20-3231-2DCE-91BB-24DEF84EAA3F}"/>
              </a:ext>
            </a:extLst>
          </p:cNvPr>
          <p:cNvSpPr>
            <a:spLocks noGrp="1"/>
          </p:cNvSpPr>
          <p:nvPr>
            <p:ph type="subTitle" idx="1"/>
          </p:nvPr>
        </p:nvSpPr>
        <p:spPr>
          <a:xfrm>
            <a:off x="1524000" y="3602037"/>
            <a:ext cx="9144000" cy="2387600"/>
          </a:xfrm>
        </p:spPr>
        <p:txBody>
          <a:bodyPr>
            <a:normAutofit fontScale="85000" lnSpcReduction="20000"/>
          </a:bodyPr>
          <a:lstStyle/>
          <a:p>
            <a:endParaRPr lang="it-IT" sz="3700" dirty="0">
              <a:solidFill>
                <a:schemeClr val="bg1"/>
              </a:solidFill>
            </a:endParaRPr>
          </a:p>
          <a:p>
            <a:r>
              <a:rPr lang="it-IT" sz="3700" b="1" i="1" dirty="0" err="1">
                <a:solidFill>
                  <a:schemeClr val="bg1"/>
                </a:solidFill>
                <a:latin typeface="Calibri" panose="020F0502020204030204" pitchFamily="34" charset="0"/>
                <a:ea typeface="Calibri" panose="020F0502020204030204" pitchFamily="34" charset="0"/>
                <a:cs typeface="Calibri" panose="020F0502020204030204" pitchFamily="34" charset="0"/>
              </a:rPr>
              <a:t>promptEngineers</a:t>
            </a:r>
            <a:endParaRPr lang="it-IT" sz="3700" b="1" i="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Hamza Abdelkader - 2230150</a:t>
            </a: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Leonardo Marasca - 2217140</a:t>
            </a: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Marco Catalano - 2269487</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it-IT" dirty="0"/>
          </a:p>
        </p:txBody>
      </p:sp>
    </p:spTree>
    <p:extLst>
      <p:ext uri="{BB962C8B-B14F-4D97-AF65-F5344CB8AC3E}">
        <p14:creationId xmlns:p14="http://schemas.microsoft.com/office/powerpoint/2010/main" val="772157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09AC1-AAB6-F22A-50F2-33D1EC07A7CE}"/>
              </a:ext>
            </a:extLst>
          </p:cNvPr>
          <p:cNvSpPr>
            <a:spLocks noGrp="1"/>
          </p:cNvSpPr>
          <p:nvPr>
            <p:ph type="title"/>
          </p:nvPr>
        </p:nvSpPr>
        <p:spPr/>
        <p:txBody>
          <a:bodyPr/>
          <a:lstStyle/>
          <a:p>
            <a:r>
              <a:rPr lang="it-IT" dirty="0">
                <a:solidFill>
                  <a:srgbClr val="FF5A36"/>
                </a:solidFill>
                <a:latin typeface="Arial Black" panose="020B0A04020102020204" pitchFamily="34" charset="0"/>
              </a:rPr>
              <a:t>TABLE OF CONTENTS</a:t>
            </a:r>
          </a:p>
        </p:txBody>
      </p:sp>
      <p:sp>
        <p:nvSpPr>
          <p:cNvPr id="3" name="Content Placeholder 2">
            <a:extLst>
              <a:ext uri="{FF2B5EF4-FFF2-40B4-BE49-F238E27FC236}">
                <a16:creationId xmlns:a16="http://schemas.microsoft.com/office/drawing/2014/main" id="{D3BD7D30-C4EB-784E-2D4D-64C62EC5AA28}"/>
              </a:ext>
            </a:extLst>
          </p:cNvPr>
          <p:cNvSpPr>
            <a:spLocks noGrp="1"/>
          </p:cNvSpPr>
          <p:nvPr>
            <p:ph idx="1"/>
          </p:nvPr>
        </p:nvSpPr>
        <p:spPr/>
        <p:txBody>
          <a:bodyPr>
            <a:normAutofit lnSpcReduction="10000"/>
          </a:bodyPr>
          <a:lstStyle/>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Project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Context</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&amp; Challenges</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System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Requirements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User Stories &amp;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Schemas</a:t>
            </a: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Platform Architecture: Event-</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Driven</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Design</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Core Components: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Ingestion</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Processing &amp; UI</a:t>
            </a:r>
          </a:p>
          <a:p>
            <a:pPr marL="0" indent="0">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Live Demo</a:t>
            </a:r>
          </a:p>
        </p:txBody>
      </p:sp>
    </p:spTree>
    <p:extLst>
      <p:ext uri="{BB962C8B-B14F-4D97-AF65-F5344CB8AC3E}">
        <p14:creationId xmlns:p14="http://schemas.microsoft.com/office/powerpoint/2010/main" val="3645531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5A87E-E949-4046-FF6A-C410D7A4F4D4}"/>
              </a:ext>
            </a:extLst>
          </p:cNvPr>
          <p:cNvSpPr>
            <a:spLocks noGrp="1"/>
          </p:cNvSpPr>
          <p:nvPr>
            <p:ph type="title"/>
          </p:nvPr>
        </p:nvSpPr>
        <p:spPr/>
        <p:txBody>
          <a:bodyPr/>
          <a:lstStyle/>
          <a:p>
            <a:r>
              <a:rPr lang="it-IT" dirty="0">
                <a:solidFill>
                  <a:srgbClr val="FF5A36"/>
                </a:solidFill>
                <a:latin typeface="Arial Black" panose="020B0A04020102020204" pitchFamily="34" charset="0"/>
              </a:rPr>
              <a:t>Challenges</a:t>
            </a:r>
          </a:p>
        </p:txBody>
      </p:sp>
      <p:sp>
        <p:nvSpPr>
          <p:cNvPr id="6" name="Rectangle 3">
            <a:extLst>
              <a:ext uri="{FF2B5EF4-FFF2-40B4-BE49-F238E27FC236}">
                <a16:creationId xmlns:a16="http://schemas.microsoft.com/office/drawing/2014/main" id="{DE1A7FC5-BB33-CBA0-CDE9-F3E7ECCCC98C}"/>
              </a:ext>
            </a:extLst>
          </p:cNvPr>
          <p:cNvSpPr>
            <a:spLocks noGrp="1" noChangeArrowheads="1"/>
          </p:cNvSpPr>
          <p:nvPr>
            <p:ph idx="1"/>
          </p:nvPr>
        </p:nvSpPr>
        <p:spPr bwMode="auto">
          <a:xfrm>
            <a:off x="838200" y="1690688"/>
            <a:ext cx="10025743" cy="5109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2200" b="1"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Heterogeneous</a:t>
            </a:r>
            <a:r>
              <a:rPr kumimoji="0" lang="it-IT" altLang="it-IT" sz="22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Receptors:</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Incompatible</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APIs</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and </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telemetry</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formats.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22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Data </a:t>
            </a:r>
            <a:r>
              <a:rPr kumimoji="0" lang="it-IT" altLang="it-IT" sz="2200" b="1"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Standardization</a:t>
            </a:r>
            <a:r>
              <a:rPr kumimoji="0" lang="it-IT" altLang="it-IT" sz="22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Need</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for </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unified</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payloads.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2200" b="1"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Resilience</a:t>
            </a:r>
            <a:r>
              <a:rPr kumimoji="0" lang="it-IT" altLang="it-IT" sz="22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Designing</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 fault-</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tolerant</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Event-</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Driven</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Architecture.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22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Performance:</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Memory caching for zero-</a:t>
            </a:r>
            <a:r>
              <a:rPr kumimoji="0" lang="it-IT" altLang="it-IT" sz="2200" b="0" i="0" u="none" strike="noStrike" cap="none" normalizeH="0" baseline="0" dirty="0" err="1">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latency</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UI.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it-IT" altLang="it-IT" sz="2200" b="1"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Monitoring:</a:t>
            </a:r>
            <a:r>
              <a:rPr kumimoji="0" lang="it-IT" altLang="it-IT" sz="2200" b="0" i="0" u="none" strike="noStrike" cap="none" normalizeH="0" baseline="0" dirty="0">
                <a:ln>
                  <a:noFill/>
                </a:ln>
                <a:solidFill>
                  <a:schemeClr val="bg1"/>
                </a:solidFill>
                <a:effectLst/>
                <a:latin typeface="Calibri" panose="020F0502020204030204" pitchFamily="34" charset="0"/>
                <a:ea typeface="Calibri" panose="020F0502020204030204" pitchFamily="34" charset="0"/>
                <a:cs typeface="Calibri" panose="020F0502020204030204" pitchFamily="34" charset="0"/>
              </a:rPr>
              <a:t> Real-time dashboards.</a:t>
            </a:r>
          </a:p>
          <a:p>
            <a:pPr marL="0" marR="0" lvl="0" indent="0" algn="l" defTabSz="914400" rtl="0" eaLnBrk="0" fontAlgn="base" latinLnBrk="0" hangingPunct="0">
              <a:lnSpc>
                <a:spcPct val="100000"/>
              </a:lnSpc>
              <a:spcBef>
                <a:spcPct val="0"/>
              </a:spcBef>
              <a:spcAft>
                <a:spcPct val="0"/>
              </a:spcAft>
              <a:buClrTx/>
              <a:buSzTx/>
              <a:buFontTx/>
              <a:buChar char="•"/>
              <a:tabLst/>
            </a:pPr>
            <a:endParaRPr lang="it-IT" altLang="it-IT" sz="2000" dirty="0">
              <a:solidFill>
                <a:schemeClr val="bg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it-IT" altLang="it-IT" sz="2000" b="0" i="0" u="none" strike="noStrike" cap="none" normalizeH="0" baseline="0" dirty="0">
              <a:ln>
                <a:noFill/>
              </a:ln>
              <a:solidFill>
                <a:schemeClr val="bg1"/>
              </a:solidFill>
              <a:effectLst/>
              <a:latin typeface="Arial" panose="020B0604020202020204" pitchFamily="34" charset="0"/>
            </a:endParaRPr>
          </a:p>
        </p:txBody>
      </p:sp>
    </p:spTree>
    <p:extLst>
      <p:ext uri="{BB962C8B-B14F-4D97-AF65-F5344CB8AC3E}">
        <p14:creationId xmlns:p14="http://schemas.microsoft.com/office/powerpoint/2010/main" val="2123896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36D3A-C3F0-CADD-7DA3-CCE83FF4D57C}"/>
              </a:ext>
            </a:extLst>
          </p:cNvPr>
          <p:cNvSpPr>
            <a:spLocks noGrp="1"/>
          </p:cNvSpPr>
          <p:nvPr>
            <p:ph type="title"/>
          </p:nvPr>
        </p:nvSpPr>
        <p:spPr/>
        <p:txBody>
          <a:bodyPr/>
          <a:lstStyle/>
          <a:p>
            <a:r>
              <a:rPr lang="it-IT" dirty="0">
                <a:solidFill>
                  <a:srgbClr val="FF5A36"/>
                </a:solidFill>
                <a:latin typeface="Arial Black" panose="020B0A04020102020204" pitchFamily="34" charset="0"/>
              </a:rPr>
              <a:t>Technical goals</a:t>
            </a:r>
          </a:p>
        </p:txBody>
      </p:sp>
      <p:sp>
        <p:nvSpPr>
          <p:cNvPr id="3" name="Content Placeholder 2">
            <a:extLst>
              <a:ext uri="{FF2B5EF4-FFF2-40B4-BE49-F238E27FC236}">
                <a16:creationId xmlns:a16="http://schemas.microsoft.com/office/drawing/2014/main" id="{595E788B-7630-4BF2-38AF-DE319717B9F5}"/>
              </a:ext>
            </a:extLst>
          </p:cNvPr>
          <p:cNvSpPr>
            <a:spLocks noGrp="1"/>
          </p:cNvSpPr>
          <p:nvPr>
            <p:ph idx="1"/>
          </p:nvPr>
        </p:nvSpPr>
        <p:spPr>
          <a:xfrm>
            <a:off x="838200" y="1690688"/>
            <a:ext cx="10515600" cy="4486275"/>
          </a:xfrm>
        </p:spPr>
        <p:txBody>
          <a:bodyPr>
            <a:normAutofit fontScale="85000" lnSpcReduction="20000"/>
          </a:bodyPr>
          <a:lstStyle/>
          <a:p>
            <a:pPr marL="0" indent="0">
              <a:buNone/>
            </a:pPr>
            <a:r>
              <a:rPr lang="it-IT" sz="3200" dirty="0" err="1">
                <a:solidFill>
                  <a:schemeClr val="bg1"/>
                </a:solidFill>
                <a:latin typeface="Calibri" panose="020F0502020204030204" pitchFamily="34" charset="0"/>
                <a:ea typeface="Calibri" panose="020F0502020204030204" pitchFamily="34" charset="0"/>
                <a:cs typeface="Calibri" panose="020F0502020204030204" pitchFamily="34" charset="0"/>
              </a:rPr>
              <a:t>Develop</a:t>
            </a:r>
            <a:r>
              <a:rPr lang="it-IT" sz="3200" dirty="0">
                <a:solidFill>
                  <a:schemeClr val="bg1"/>
                </a:solidFill>
                <a:latin typeface="Calibri" panose="020F0502020204030204" pitchFamily="34" charset="0"/>
                <a:ea typeface="Calibri" panose="020F0502020204030204" pitchFamily="34" charset="0"/>
                <a:cs typeface="Calibri" panose="020F0502020204030204" pitchFamily="34" charset="0"/>
              </a:rPr>
              <a:t> a system </a:t>
            </a:r>
            <a:r>
              <a:rPr lang="it-IT" sz="3200" dirty="0" err="1">
                <a:solidFill>
                  <a:schemeClr val="bg1"/>
                </a:solidFill>
                <a:latin typeface="Calibri" panose="020F0502020204030204" pitchFamily="34" charset="0"/>
                <a:ea typeface="Calibri" panose="020F0502020204030204" pitchFamily="34" charset="0"/>
                <a:cs typeface="Calibri" panose="020F0502020204030204" pitchFamily="34" charset="0"/>
              </a:rPr>
              <a:t>able</a:t>
            </a:r>
            <a:r>
              <a:rPr lang="it-IT" sz="3200" dirty="0">
                <a:solidFill>
                  <a:schemeClr val="bg1"/>
                </a:solidFill>
                <a:latin typeface="Calibri" panose="020F0502020204030204" pitchFamily="34" charset="0"/>
                <a:ea typeface="Calibri" panose="020F0502020204030204" pitchFamily="34" charset="0"/>
                <a:cs typeface="Calibri" panose="020F0502020204030204" pitchFamily="34" charset="0"/>
              </a:rPr>
              <a:t> to:</a:t>
            </a:r>
          </a:p>
          <a:p>
            <a:pPr marL="0" indent="0">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Ingest heterogeneous sensor data (REST &amp; Streams). </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Normalize data into a unified schema. </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Evaluate automation rules continuously. </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Enable operators to manage rules and status via UI. </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Display a live, real-time dashboard.</a:t>
            </a: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2306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3E045-9072-DCAE-4BD3-964C65E05E6D}"/>
              </a:ext>
            </a:extLst>
          </p:cNvPr>
          <p:cNvSpPr>
            <a:spLocks noGrp="1"/>
          </p:cNvSpPr>
          <p:nvPr>
            <p:ph type="title"/>
          </p:nvPr>
        </p:nvSpPr>
        <p:spPr/>
        <p:txBody>
          <a:bodyPr/>
          <a:lstStyle/>
          <a:p>
            <a:r>
              <a:rPr lang="it-IT" dirty="0">
                <a:solidFill>
                  <a:srgbClr val="FF5A36"/>
                </a:solidFill>
                <a:latin typeface="Arial Black" panose="020B0A04020102020204" pitchFamily="34" charset="0"/>
              </a:rPr>
              <a:t>Workflow</a:t>
            </a:r>
          </a:p>
        </p:txBody>
      </p:sp>
      <p:sp>
        <p:nvSpPr>
          <p:cNvPr id="3" name="Content Placeholder 2">
            <a:extLst>
              <a:ext uri="{FF2B5EF4-FFF2-40B4-BE49-F238E27FC236}">
                <a16:creationId xmlns:a16="http://schemas.microsoft.com/office/drawing/2014/main" id="{1A46013D-D991-72E9-B636-C38A3D54D4FC}"/>
              </a:ext>
            </a:extLst>
          </p:cNvPr>
          <p:cNvSpPr>
            <a:spLocks noGrp="1"/>
          </p:cNvSpPr>
          <p:nvPr>
            <p:ph idx="1"/>
          </p:nvPr>
        </p:nvSpPr>
        <p:spPr>
          <a:xfrm>
            <a:off x="838200" y="1690688"/>
            <a:ext cx="10515600" cy="4486275"/>
          </a:xfrm>
        </p:spPr>
        <p:txBody>
          <a:bodyPr>
            <a:normAutofit lnSpcReduction="10000"/>
          </a:bodyPr>
          <a:lstStyle/>
          <a:p>
            <a:pPr marL="0" indent="0">
              <a:buNone/>
            </a:pPr>
            <a:r>
              <a:rPr lang="it-IT" dirty="0">
                <a:solidFill>
                  <a:schemeClr val="bg1"/>
                </a:solidFill>
              </a:rPr>
              <a:t>1.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Requirements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User Stories generation. </a:t>
            </a:r>
          </a:p>
          <a:p>
            <a:pPr marL="0" indent="0">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2.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Contract</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Design: Rule &amp;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Normalization</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schemas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0" indent="0">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3. Architecture: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Microservices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&amp; Broker setup. </a:t>
            </a:r>
          </a:p>
          <a:p>
            <a:pPr marL="0" indent="0">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4. Core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Logic</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Microservices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development</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p>
          <a:p>
            <a:pPr marL="0" indent="0">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5.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Implementation</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&amp; Testing.</a:t>
            </a:r>
          </a:p>
        </p:txBody>
      </p:sp>
    </p:spTree>
    <p:extLst>
      <p:ext uri="{BB962C8B-B14F-4D97-AF65-F5344CB8AC3E}">
        <p14:creationId xmlns:p14="http://schemas.microsoft.com/office/powerpoint/2010/main" val="4096949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CDAF4-EBA9-95B6-7522-77FF15B40DF2}"/>
              </a:ext>
            </a:extLst>
          </p:cNvPr>
          <p:cNvSpPr>
            <a:spLocks noGrp="1"/>
          </p:cNvSpPr>
          <p:nvPr>
            <p:ph type="title"/>
          </p:nvPr>
        </p:nvSpPr>
        <p:spPr/>
        <p:txBody>
          <a:bodyPr/>
          <a:lstStyle/>
          <a:p>
            <a:r>
              <a:rPr lang="it-IT" dirty="0">
                <a:solidFill>
                  <a:srgbClr val="FF5A36"/>
                </a:solidFill>
                <a:latin typeface="Arial Black" panose="020B0A04020102020204" pitchFamily="34" charset="0"/>
              </a:rPr>
              <a:t>User stories samples</a:t>
            </a:r>
          </a:p>
        </p:txBody>
      </p:sp>
      <p:sp>
        <p:nvSpPr>
          <p:cNvPr id="3" name="Content Placeholder 2">
            <a:extLst>
              <a:ext uri="{FF2B5EF4-FFF2-40B4-BE49-F238E27FC236}">
                <a16:creationId xmlns:a16="http://schemas.microsoft.com/office/drawing/2014/main" id="{48F53C79-4938-6A0C-2EA4-7B92754CA9BE}"/>
              </a:ext>
            </a:extLst>
          </p:cNvPr>
          <p:cNvSpPr>
            <a:spLocks noGrp="1"/>
          </p:cNvSpPr>
          <p:nvPr>
            <p:ph idx="1"/>
          </p:nvPr>
        </p:nvSpPr>
        <p:spPr/>
        <p:txBody>
          <a:bodyPr>
            <a:normAutofit/>
          </a:bodyPr>
          <a:lstStyle/>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1. As an Operator, I want to see a real-time list of all sensor values (e.g., temperature, radiation) so that I can monitor habitat safety.</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2. As an Operator, if a rule condition is true, I want the system to automatically send a POST command to turn the actuator ON or OFF.</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it-IT" dirty="0"/>
          </a:p>
        </p:txBody>
      </p:sp>
    </p:spTree>
    <p:extLst>
      <p:ext uri="{BB962C8B-B14F-4D97-AF65-F5344CB8AC3E}">
        <p14:creationId xmlns:p14="http://schemas.microsoft.com/office/powerpoint/2010/main" val="2772814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3190B-3423-6942-F8C4-15F3FBCC2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6C45D-4396-C3AE-BBE7-36628E0D1963}"/>
              </a:ext>
            </a:extLst>
          </p:cNvPr>
          <p:cNvSpPr>
            <a:spLocks noGrp="1"/>
          </p:cNvSpPr>
          <p:nvPr>
            <p:ph type="title"/>
          </p:nvPr>
        </p:nvSpPr>
        <p:spPr/>
        <p:txBody>
          <a:bodyPr/>
          <a:lstStyle/>
          <a:p>
            <a:r>
              <a:rPr lang="it-IT" dirty="0">
                <a:solidFill>
                  <a:srgbClr val="FF5A36"/>
                </a:solidFill>
                <a:latin typeface="Arial Black" panose="020B0A04020102020204" pitchFamily="34" charset="0"/>
              </a:rPr>
              <a:t>User stories samples</a:t>
            </a:r>
          </a:p>
        </p:txBody>
      </p:sp>
      <p:sp>
        <p:nvSpPr>
          <p:cNvPr id="3" name="Content Placeholder 2">
            <a:extLst>
              <a:ext uri="{FF2B5EF4-FFF2-40B4-BE49-F238E27FC236}">
                <a16:creationId xmlns:a16="http://schemas.microsoft.com/office/drawing/2014/main" id="{A71AE669-B54B-AE9A-DEEA-1B95DC1AAE1B}"/>
              </a:ext>
            </a:extLst>
          </p:cNvPr>
          <p:cNvSpPr>
            <a:spLocks noGrp="1"/>
          </p:cNvSpPr>
          <p:nvPr>
            <p:ph idx="1"/>
          </p:nvPr>
        </p:nvSpPr>
        <p:spPr/>
        <p:txBody>
          <a:bodyPr>
            <a:normAutofit/>
          </a:bodyPr>
          <a:lstStyle/>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8. As an Operator, I want to manually toggle actuators (e.g., cooling\_fan) ON or OFF from the UI to override automation in emergencies.</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rPr>
              <a:t>9. As an Operator, I want to see a live line chart for specific sensors (e.g., CO2 levels) to track trends while the dashboard is open.</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24942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9AEB95-783F-474F-FC63-A7DA37BA9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C329A-B0C4-4059-93BB-7CE327FA7A38}"/>
              </a:ext>
            </a:extLst>
          </p:cNvPr>
          <p:cNvSpPr>
            <a:spLocks noGrp="1"/>
          </p:cNvSpPr>
          <p:nvPr>
            <p:ph type="title"/>
          </p:nvPr>
        </p:nvSpPr>
        <p:spPr/>
        <p:txBody>
          <a:bodyPr/>
          <a:lstStyle/>
          <a:p>
            <a:r>
              <a:rPr lang="it-IT" dirty="0">
                <a:solidFill>
                  <a:srgbClr val="FF5A36"/>
                </a:solidFill>
                <a:latin typeface="Arial Black" panose="020B0A04020102020204" pitchFamily="34" charset="0"/>
              </a:rPr>
              <a:t>User stories samples</a:t>
            </a:r>
          </a:p>
        </p:txBody>
      </p:sp>
      <p:sp>
        <p:nvSpPr>
          <p:cNvPr id="3" name="Content Placeholder 2">
            <a:extLst>
              <a:ext uri="{FF2B5EF4-FFF2-40B4-BE49-F238E27FC236}">
                <a16:creationId xmlns:a16="http://schemas.microsoft.com/office/drawing/2014/main" id="{61FFCCD9-7D93-7F75-DE49-E5EC6FD54CFA}"/>
              </a:ext>
            </a:extLst>
          </p:cNvPr>
          <p:cNvSpPr>
            <a:spLocks noGrp="1"/>
          </p:cNvSpPr>
          <p:nvPr>
            <p:ph idx="1"/>
          </p:nvPr>
        </p:nvSpPr>
        <p:spPr/>
        <p:txBody>
          <a:bodyPr>
            <a:normAutofit/>
          </a:bodyPr>
          <a:lstStyle/>
          <a:p>
            <a:endParaRPr lang="en-US" dirty="0">
              <a:solidFill>
                <a:schemeClr val="bg1"/>
              </a:solidFill>
            </a:endParaRPr>
          </a:p>
          <a:p>
            <a:r>
              <a:rPr lang="en-US" dirty="0">
                <a:solidFill>
                  <a:schemeClr val="bg1"/>
                </a:solidFill>
              </a:rPr>
              <a:t>11. As an Operator, I want to create automation rules (e.g., "IF temp &gt; 28 THEN fan ON") via the UI to maintain habitat stability.</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16. As an Operator, I want my automation rules to be saved in a database  so that the habitat remains safe even if a specific service needs to restart.</a:t>
            </a:r>
          </a:p>
          <a:p>
            <a:endParaRPr lang="it-IT" dirty="0"/>
          </a:p>
        </p:txBody>
      </p:sp>
    </p:spTree>
    <p:extLst>
      <p:ext uri="{BB962C8B-B14F-4D97-AF65-F5344CB8AC3E}">
        <p14:creationId xmlns:p14="http://schemas.microsoft.com/office/powerpoint/2010/main" val="3051369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EDE2B-894E-8EA3-1EC4-F4F02496C902}"/>
              </a:ext>
            </a:extLst>
          </p:cNvPr>
          <p:cNvSpPr>
            <a:spLocks noGrp="1"/>
          </p:cNvSpPr>
          <p:nvPr>
            <p:ph type="title"/>
          </p:nvPr>
        </p:nvSpPr>
        <p:spPr/>
        <p:txBody>
          <a:bodyPr/>
          <a:lstStyle/>
          <a:p>
            <a:r>
              <a:rPr lang="it-IT" dirty="0" err="1">
                <a:solidFill>
                  <a:srgbClr val="FF5A36"/>
                </a:solidFill>
                <a:latin typeface="Arial Black" panose="020B0A04020102020204" pitchFamily="34" charset="0"/>
              </a:rPr>
              <a:t>Mock</a:t>
            </a:r>
            <a:r>
              <a:rPr lang="it-IT" dirty="0">
                <a:solidFill>
                  <a:srgbClr val="FF5A36"/>
                </a:solidFill>
                <a:latin typeface="Arial Black" panose="020B0A04020102020204" pitchFamily="34" charset="0"/>
              </a:rPr>
              <a:t>-up</a:t>
            </a:r>
          </a:p>
        </p:txBody>
      </p:sp>
      <p:pic>
        <p:nvPicPr>
          <p:cNvPr id="5" name="Picture 4">
            <a:extLst>
              <a:ext uri="{FF2B5EF4-FFF2-40B4-BE49-F238E27FC236}">
                <a16:creationId xmlns:a16="http://schemas.microsoft.com/office/drawing/2014/main" id="{4D1F365E-0DB9-12E3-0A57-74D4E4E91F6B}"/>
              </a:ext>
            </a:extLst>
          </p:cNvPr>
          <p:cNvPicPr>
            <a:picLocks noChangeAspect="1"/>
          </p:cNvPicPr>
          <p:nvPr/>
        </p:nvPicPr>
        <p:blipFill>
          <a:blip r:embed="rId2"/>
          <a:stretch>
            <a:fillRect/>
          </a:stretch>
        </p:blipFill>
        <p:spPr>
          <a:xfrm>
            <a:off x="538584" y="1460083"/>
            <a:ext cx="5181866" cy="4559534"/>
          </a:xfrm>
          <a:prstGeom prst="rect">
            <a:avLst/>
          </a:prstGeom>
        </p:spPr>
      </p:pic>
      <p:sp>
        <p:nvSpPr>
          <p:cNvPr id="6" name="TextBox 5">
            <a:extLst>
              <a:ext uri="{FF2B5EF4-FFF2-40B4-BE49-F238E27FC236}">
                <a16:creationId xmlns:a16="http://schemas.microsoft.com/office/drawing/2014/main" id="{DB8DA7B6-BC1F-92CE-1092-946F329880FA}"/>
              </a:ext>
            </a:extLst>
          </p:cNvPr>
          <p:cNvSpPr txBox="1"/>
          <p:nvPr/>
        </p:nvSpPr>
        <p:spPr>
          <a:xfrm>
            <a:off x="538584" y="6123543"/>
            <a:ext cx="1403498" cy="369332"/>
          </a:xfrm>
          <a:prstGeom prst="rect">
            <a:avLst/>
          </a:prstGeom>
          <a:noFill/>
        </p:spPr>
        <p:txBody>
          <a:bodyPr wrap="square" rtlCol="0">
            <a:spAutoFit/>
          </a:bodyPr>
          <a:lstStyle/>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US: 1 &amp; 9</a:t>
            </a:r>
          </a:p>
        </p:txBody>
      </p:sp>
      <p:pic>
        <p:nvPicPr>
          <p:cNvPr id="8" name="Picture 7">
            <a:extLst>
              <a:ext uri="{FF2B5EF4-FFF2-40B4-BE49-F238E27FC236}">
                <a16:creationId xmlns:a16="http://schemas.microsoft.com/office/drawing/2014/main" id="{F47E501E-904F-9B50-CC4F-94E73A18AF1E}"/>
              </a:ext>
            </a:extLst>
          </p:cNvPr>
          <p:cNvPicPr>
            <a:picLocks noChangeAspect="1"/>
          </p:cNvPicPr>
          <p:nvPr/>
        </p:nvPicPr>
        <p:blipFill>
          <a:blip r:embed="rId3"/>
          <a:stretch>
            <a:fillRect/>
          </a:stretch>
        </p:blipFill>
        <p:spPr>
          <a:xfrm>
            <a:off x="6020066" y="1460083"/>
            <a:ext cx="5112013" cy="2197213"/>
          </a:xfrm>
          <a:prstGeom prst="rect">
            <a:avLst/>
          </a:prstGeom>
        </p:spPr>
      </p:pic>
      <p:sp>
        <p:nvSpPr>
          <p:cNvPr id="9" name="TextBox 8">
            <a:extLst>
              <a:ext uri="{FF2B5EF4-FFF2-40B4-BE49-F238E27FC236}">
                <a16:creationId xmlns:a16="http://schemas.microsoft.com/office/drawing/2014/main" id="{3121EDDB-0089-C2B1-A333-25E131020D77}"/>
              </a:ext>
            </a:extLst>
          </p:cNvPr>
          <p:cNvSpPr txBox="1"/>
          <p:nvPr/>
        </p:nvSpPr>
        <p:spPr>
          <a:xfrm>
            <a:off x="6013394" y="3657296"/>
            <a:ext cx="1403498" cy="369332"/>
          </a:xfrm>
          <a:prstGeom prst="rect">
            <a:avLst/>
          </a:prstGeom>
          <a:noFill/>
        </p:spPr>
        <p:txBody>
          <a:bodyPr wrap="square" rtlCol="0">
            <a:spAutoFit/>
          </a:bodyPr>
          <a:lstStyle/>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US: 2 &amp; 8</a:t>
            </a:r>
          </a:p>
        </p:txBody>
      </p:sp>
      <p:pic>
        <p:nvPicPr>
          <p:cNvPr id="11" name="Picture 10">
            <a:extLst>
              <a:ext uri="{FF2B5EF4-FFF2-40B4-BE49-F238E27FC236}">
                <a16:creationId xmlns:a16="http://schemas.microsoft.com/office/drawing/2014/main" id="{BEA69967-3FE4-63EF-A7E2-87D6100B7802}"/>
              </a:ext>
            </a:extLst>
          </p:cNvPr>
          <p:cNvPicPr>
            <a:picLocks noChangeAspect="1"/>
          </p:cNvPicPr>
          <p:nvPr/>
        </p:nvPicPr>
        <p:blipFill>
          <a:blip r:embed="rId4"/>
          <a:stretch>
            <a:fillRect/>
          </a:stretch>
        </p:blipFill>
        <p:spPr>
          <a:xfrm>
            <a:off x="6013394" y="4026628"/>
            <a:ext cx="5067560" cy="2406774"/>
          </a:xfrm>
          <a:prstGeom prst="rect">
            <a:avLst/>
          </a:prstGeom>
        </p:spPr>
      </p:pic>
      <p:sp>
        <p:nvSpPr>
          <p:cNvPr id="12" name="TextBox 11">
            <a:extLst>
              <a:ext uri="{FF2B5EF4-FFF2-40B4-BE49-F238E27FC236}">
                <a16:creationId xmlns:a16="http://schemas.microsoft.com/office/drawing/2014/main" id="{1527A16E-FEE1-5635-91C4-49602DE457A3}"/>
              </a:ext>
            </a:extLst>
          </p:cNvPr>
          <p:cNvSpPr txBox="1"/>
          <p:nvPr/>
        </p:nvSpPr>
        <p:spPr>
          <a:xfrm>
            <a:off x="6013394" y="6393974"/>
            <a:ext cx="1403498" cy="369332"/>
          </a:xfrm>
          <a:prstGeom prst="rect">
            <a:avLst/>
          </a:prstGeom>
          <a:noFill/>
        </p:spPr>
        <p:txBody>
          <a:bodyPr wrap="square" rtlCol="0">
            <a:spAutoFit/>
          </a:bodyPr>
          <a:lstStyle/>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US: 11 &amp; 16</a:t>
            </a:r>
          </a:p>
        </p:txBody>
      </p:sp>
    </p:spTree>
    <p:extLst>
      <p:ext uri="{BB962C8B-B14F-4D97-AF65-F5344CB8AC3E}">
        <p14:creationId xmlns:p14="http://schemas.microsoft.com/office/powerpoint/2010/main" val="33173278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A2E13-2092-B549-59D9-F08FA7756D97}"/>
              </a:ext>
            </a:extLst>
          </p:cNvPr>
          <p:cNvSpPr>
            <a:spLocks noGrp="1"/>
          </p:cNvSpPr>
          <p:nvPr>
            <p:ph type="title"/>
          </p:nvPr>
        </p:nvSpPr>
        <p:spPr/>
        <p:txBody>
          <a:bodyPr/>
          <a:lstStyle/>
          <a:p>
            <a:r>
              <a:rPr lang="it-IT" dirty="0">
                <a:solidFill>
                  <a:srgbClr val="FF5A36"/>
                </a:solidFill>
                <a:latin typeface="Arial Black" panose="020B0A04020102020204" pitchFamily="34" charset="0"/>
              </a:rPr>
              <a:t>Rule and event </a:t>
            </a:r>
            <a:r>
              <a:rPr lang="it-IT" dirty="0" err="1">
                <a:solidFill>
                  <a:srgbClr val="FF5A36"/>
                </a:solidFill>
                <a:latin typeface="Arial Black" panose="020B0A04020102020204" pitchFamily="34" charset="0"/>
              </a:rPr>
              <a:t>schemas</a:t>
            </a:r>
            <a:endParaRPr lang="it-IT" dirty="0">
              <a:solidFill>
                <a:srgbClr val="FF5A36"/>
              </a:solidFill>
              <a:latin typeface="Arial Black" panose="020B0A04020102020204" pitchFamily="34" charset="0"/>
            </a:endParaRPr>
          </a:p>
        </p:txBody>
      </p:sp>
      <p:pic>
        <p:nvPicPr>
          <p:cNvPr id="7" name="Picture 6">
            <a:extLst>
              <a:ext uri="{FF2B5EF4-FFF2-40B4-BE49-F238E27FC236}">
                <a16:creationId xmlns:a16="http://schemas.microsoft.com/office/drawing/2014/main" id="{E8C0F1CA-F07B-E55F-F6CD-47DF17CB4D29}"/>
              </a:ext>
            </a:extLst>
          </p:cNvPr>
          <p:cNvPicPr>
            <a:picLocks noChangeAspect="1"/>
          </p:cNvPicPr>
          <p:nvPr/>
        </p:nvPicPr>
        <p:blipFill>
          <a:blip r:embed="rId3"/>
          <a:stretch>
            <a:fillRect/>
          </a:stretch>
        </p:blipFill>
        <p:spPr>
          <a:xfrm>
            <a:off x="838200" y="1866372"/>
            <a:ext cx="5023301" cy="4382028"/>
          </a:xfrm>
          <a:prstGeom prst="rect">
            <a:avLst/>
          </a:prstGeom>
        </p:spPr>
      </p:pic>
      <p:pic>
        <p:nvPicPr>
          <p:cNvPr id="9" name="Picture 8">
            <a:extLst>
              <a:ext uri="{FF2B5EF4-FFF2-40B4-BE49-F238E27FC236}">
                <a16:creationId xmlns:a16="http://schemas.microsoft.com/office/drawing/2014/main" id="{A4D8365B-1B26-A3D9-F811-93CFEA845DB0}"/>
              </a:ext>
            </a:extLst>
          </p:cNvPr>
          <p:cNvPicPr>
            <a:picLocks noChangeAspect="1"/>
          </p:cNvPicPr>
          <p:nvPr/>
        </p:nvPicPr>
        <p:blipFill>
          <a:blip r:embed="rId4"/>
          <a:stretch>
            <a:fillRect/>
          </a:stretch>
        </p:blipFill>
        <p:spPr>
          <a:xfrm>
            <a:off x="6096000" y="2089950"/>
            <a:ext cx="5756356" cy="3934872"/>
          </a:xfrm>
          <a:prstGeom prst="rect">
            <a:avLst/>
          </a:prstGeom>
        </p:spPr>
      </p:pic>
    </p:spTree>
    <p:extLst>
      <p:ext uri="{BB962C8B-B14F-4D97-AF65-F5344CB8AC3E}">
        <p14:creationId xmlns:p14="http://schemas.microsoft.com/office/powerpoint/2010/main" val="368632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B8AB5-C300-058D-26BD-D74A7771B074}"/>
              </a:ext>
            </a:extLst>
          </p:cNvPr>
          <p:cNvSpPr>
            <a:spLocks noGrp="1"/>
          </p:cNvSpPr>
          <p:nvPr>
            <p:ph type="title"/>
          </p:nvPr>
        </p:nvSpPr>
        <p:spPr/>
        <p:txBody>
          <a:bodyPr/>
          <a:lstStyle/>
          <a:p>
            <a:r>
              <a:rPr lang="it-IT" dirty="0" err="1">
                <a:solidFill>
                  <a:srgbClr val="FF5A36"/>
                </a:solidFill>
                <a:latin typeface="Arial Black" panose="020B0A04020102020204" pitchFamily="34" charset="0"/>
              </a:rPr>
              <a:t>Architectural</a:t>
            </a:r>
            <a:r>
              <a:rPr lang="it-IT" dirty="0">
                <a:solidFill>
                  <a:srgbClr val="FF5A36"/>
                </a:solidFill>
                <a:latin typeface="Arial Black" panose="020B0A04020102020204" pitchFamily="34" charset="0"/>
              </a:rPr>
              <a:t> </a:t>
            </a:r>
            <a:r>
              <a:rPr lang="it-IT" dirty="0" err="1">
                <a:solidFill>
                  <a:srgbClr val="FF5A36"/>
                </a:solidFill>
                <a:latin typeface="Arial Black" panose="020B0A04020102020204" pitchFamily="34" charset="0"/>
              </a:rPr>
              <a:t>constraints</a:t>
            </a:r>
            <a:endParaRPr lang="it-IT" dirty="0">
              <a:solidFill>
                <a:srgbClr val="FF5A36"/>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043A907E-C9CA-CC10-2235-4B04C27EC36E}"/>
              </a:ext>
            </a:extLst>
          </p:cNvPr>
          <p:cNvSpPr>
            <a:spLocks noGrp="1"/>
          </p:cNvSpPr>
          <p:nvPr>
            <p:ph idx="1"/>
          </p:nvPr>
        </p:nvSpPr>
        <p:spPr/>
        <p:txBody>
          <a:bodyPr/>
          <a:lstStyle/>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Use at least one message broker, e.g., ActiveMQ, Kafka, etc.</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Use multiple backend services (avoid a single monolithic service)</a:t>
            </a:r>
          </a:p>
          <a:p>
            <a:pPr marL="0" indent="0">
              <a:buNone/>
            </a:pP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Separate ingestion, processing, and presentation</a:t>
            </a:r>
          </a:p>
          <a:p>
            <a:pPr marL="0" indent="0">
              <a:buNone/>
            </a:pPr>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Persist</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automation</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rules</a:t>
            </a:r>
          </a:p>
          <a:p>
            <a:pPr marL="0" indent="0">
              <a:buNone/>
            </a:pPr>
            <a:endParaRPr lang="it-IT" dirty="0"/>
          </a:p>
        </p:txBody>
      </p:sp>
    </p:spTree>
    <p:extLst>
      <p:ext uri="{BB962C8B-B14F-4D97-AF65-F5344CB8AC3E}">
        <p14:creationId xmlns:p14="http://schemas.microsoft.com/office/powerpoint/2010/main" val="1545943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5CF1E-08C2-11A7-B495-BA7593CE541B}"/>
              </a:ext>
            </a:extLst>
          </p:cNvPr>
          <p:cNvSpPr>
            <a:spLocks noGrp="1"/>
          </p:cNvSpPr>
          <p:nvPr>
            <p:ph type="title"/>
          </p:nvPr>
        </p:nvSpPr>
        <p:spPr/>
        <p:txBody>
          <a:bodyPr/>
          <a:lstStyle/>
          <a:p>
            <a:r>
              <a:rPr lang="it-IT" dirty="0">
                <a:solidFill>
                  <a:srgbClr val="FF5A36"/>
                </a:solidFill>
                <a:latin typeface="Arial Black" panose="020B0A04020102020204" pitchFamily="34" charset="0"/>
              </a:rPr>
              <a:t>Architecture – High </a:t>
            </a:r>
            <a:r>
              <a:rPr lang="it-IT" dirty="0" err="1">
                <a:solidFill>
                  <a:srgbClr val="FF5A36"/>
                </a:solidFill>
                <a:latin typeface="Arial Black" panose="020B0A04020102020204" pitchFamily="34" charset="0"/>
              </a:rPr>
              <a:t>level</a:t>
            </a:r>
            <a:endParaRPr lang="it-IT" dirty="0">
              <a:solidFill>
                <a:srgbClr val="FF5A36"/>
              </a:solidFill>
              <a:latin typeface="Arial Black" panose="020B0A04020102020204" pitchFamily="34" charset="0"/>
            </a:endParaRPr>
          </a:p>
        </p:txBody>
      </p:sp>
      <p:pic>
        <p:nvPicPr>
          <p:cNvPr id="5" name="Content Placeholder 4">
            <a:extLst>
              <a:ext uri="{FF2B5EF4-FFF2-40B4-BE49-F238E27FC236}">
                <a16:creationId xmlns:a16="http://schemas.microsoft.com/office/drawing/2014/main" id="{534C15CA-F387-6676-B1FD-8451C2D957F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3180045"/>
            <a:ext cx="10515600" cy="1642498"/>
          </a:xfrm>
          <a:prstGeom prst="rect">
            <a:avLst/>
          </a:prstGeom>
        </p:spPr>
      </p:pic>
    </p:spTree>
    <p:extLst>
      <p:ext uri="{BB962C8B-B14F-4D97-AF65-F5344CB8AC3E}">
        <p14:creationId xmlns:p14="http://schemas.microsoft.com/office/powerpoint/2010/main" val="687661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7D930-E86A-600D-838E-799F8F12E4B4}"/>
              </a:ext>
            </a:extLst>
          </p:cNvPr>
          <p:cNvSpPr>
            <a:spLocks noGrp="1"/>
          </p:cNvSpPr>
          <p:nvPr>
            <p:ph type="title"/>
          </p:nvPr>
        </p:nvSpPr>
        <p:spPr/>
        <p:txBody>
          <a:bodyPr/>
          <a:lstStyle/>
          <a:p>
            <a:r>
              <a:rPr lang="it-IT" dirty="0">
                <a:solidFill>
                  <a:srgbClr val="FF5A36"/>
                </a:solidFill>
                <a:latin typeface="Arial Black" panose="020B0A04020102020204" pitchFamily="34" charset="0"/>
              </a:rPr>
              <a:t>Architecture - </a:t>
            </a:r>
            <a:r>
              <a:rPr lang="it-IT" dirty="0" err="1">
                <a:solidFill>
                  <a:srgbClr val="FF5A36"/>
                </a:solidFill>
                <a:latin typeface="Arial Black" panose="020B0A04020102020204" pitchFamily="34" charset="0"/>
              </a:rPr>
              <a:t>Detailed</a:t>
            </a:r>
            <a:endParaRPr lang="it-IT" dirty="0">
              <a:solidFill>
                <a:srgbClr val="FF5A36"/>
              </a:solidFill>
              <a:latin typeface="Arial Black" panose="020B0A04020102020204" pitchFamily="34" charset="0"/>
            </a:endParaRPr>
          </a:p>
        </p:txBody>
      </p:sp>
      <p:pic>
        <p:nvPicPr>
          <p:cNvPr id="7" name="Picture 6">
            <a:extLst>
              <a:ext uri="{FF2B5EF4-FFF2-40B4-BE49-F238E27FC236}">
                <a16:creationId xmlns:a16="http://schemas.microsoft.com/office/drawing/2014/main" id="{4382736F-BC7A-D296-1BBB-E99FFABFAF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84665"/>
            <a:ext cx="12192000" cy="4009919"/>
          </a:xfrm>
          <a:prstGeom prst="rect">
            <a:avLst/>
          </a:prstGeom>
        </p:spPr>
      </p:pic>
    </p:spTree>
    <p:extLst>
      <p:ext uri="{BB962C8B-B14F-4D97-AF65-F5344CB8AC3E}">
        <p14:creationId xmlns:p14="http://schemas.microsoft.com/office/powerpoint/2010/main" val="1391656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2C56-63E6-656D-36CF-271F46A5EF61}"/>
              </a:ext>
            </a:extLst>
          </p:cNvPr>
          <p:cNvSpPr>
            <a:spLocks noGrp="1"/>
          </p:cNvSpPr>
          <p:nvPr>
            <p:ph type="title"/>
          </p:nvPr>
        </p:nvSpPr>
        <p:spPr/>
        <p:txBody>
          <a:bodyPr/>
          <a:lstStyle/>
          <a:p>
            <a:r>
              <a:rPr lang="it-IT" dirty="0">
                <a:solidFill>
                  <a:srgbClr val="FF5A36"/>
                </a:solidFill>
                <a:latin typeface="Arial Black" panose="020B0A04020102020204" pitchFamily="34" charset="0"/>
              </a:rPr>
              <a:t>Architecture – </a:t>
            </a:r>
            <a:r>
              <a:rPr lang="it-IT" dirty="0" err="1">
                <a:solidFill>
                  <a:srgbClr val="FF5A36"/>
                </a:solidFill>
                <a:latin typeface="Arial Black" panose="020B0A04020102020204" pitchFamily="34" charset="0"/>
              </a:rPr>
              <a:t>Sequence</a:t>
            </a:r>
            <a:r>
              <a:rPr lang="it-IT" dirty="0">
                <a:solidFill>
                  <a:srgbClr val="FF5A36"/>
                </a:solidFill>
                <a:latin typeface="Arial Black" panose="020B0A04020102020204" pitchFamily="34" charset="0"/>
              </a:rPr>
              <a:t> </a:t>
            </a:r>
            <a:r>
              <a:rPr lang="it-IT" dirty="0" err="1">
                <a:solidFill>
                  <a:srgbClr val="FF5A36"/>
                </a:solidFill>
                <a:latin typeface="Arial Black" panose="020B0A04020102020204" pitchFamily="34" charset="0"/>
              </a:rPr>
              <a:t>Diagram</a:t>
            </a:r>
            <a:endParaRPr lang="it-IT" dirty="0">
              <a:solidFill>
                <a:srgbClr val="FF5A36"/>
              </a:solidFill>
              <a:latin typeface="Arial Black" panose="020B0A04020102020204" pitchFamily="34" charset="0"/>
            </a:endParaRPr>
          </a:p>
        </p:txBody>
      </p:sp>
      <p:pic>
        <p:nvPicPr>
          <p:cNvPr id="5" name="Picture 4">
            <a:extLst>
              <a:ext uri="{FF2B5EF4-FFF2-40B4-BE49-F238E27FC236}">
                <a16:creationId xmlns:a16="http://schemas.microsoft.com/office/drawing/2014/main" id="{057201A2-A53B-2F24-4E8A-DCB66C4723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274193"/>
            <a:ext cx="12192000" cy="4037707"/>
          </a:xfrm>
          <a:prstGeom prst="rect">
            <a:avLst/>
          </a:prstGeom>
        </p:spPr>
      </p:pic>
    </p:spTree>
    <p:extLst>
      <p:ext uri="{BB962C8B-B14F-4D97-AF65-F5344CB8AC3E}">
        <p14:creationId xmlns:p14="http://schemas.microsoft.com/office/powerpoint/2010/main" val="27532681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59F31-DCED-6B77-3992-48A272B968E0}"/>
              </a:ext>
            </a:extLst>
          </p:cNvPr>
          <p:cNvSpPr>
            <a:spLocks noGrp="1"/>
          </p:cNvSpPr>
          <p:nvPr>
            <p:ph type="title"/>
          </p:nvPr>
        </p:nvSpPr>
        <p:spPr/>
        <p:txBody>
          <a:bodyPr/>
          <a:lstStyle/>
          <a:p>
            <a:r>
              <a:rPr lang="it-IT" dirty="0">
                <a:solidFill>
                  <a:srgbClr val="FF5A36"/>
                </a:solidFill>
                <a:latin typeface="Arial Black" panose="020B0A04020102020204" pitchFamily="34" charset="0"/>
              </a:rPr>
              <a:t>Architecture - </a:t>
            </a:r>
            <a:r>
              <a:rPr lang="it-IT" dirty="0" err="1">
                <a:solidFill>
                  <a:srgbClr val="FF5A36"/>
                </a:solidFill>
                <a:latin typeface="Arial Black" panose="020B0A04020102020204" pitchFamily="34" charset="0"/>
              </a:rPr>
              <a:t>Dockerization</a:t>
            </a:r>
            <a:endParaRPr lang="it-IT" dirty="0">
              <a:solidFill>
                <a:srgbClr val="FF5A36"/>
              </a:solidFill>
              <a:latin typeface="Arial Black" panose="020B0A04020102020204" pitchFamily="34" charset="0"/>
            </a:endParaRPr>
          </a:p>
        </p:txBody>
      </p:sp>
      <p:pic>
        <p:nvPicPr>
          <p:cNvPr id="5" name="Content Placeholder 4">
            <a:extLst>
              <a:ext uri="{FF2B5EF4-FFF2-40B4-BE49-F238E27FC236}">
                <a16:creationId xmlns:a16="http://schemas.microsoft.com/office/drawing/2014/main" id="{AAEDA85C-425A-E176-4648-FDC9E79B996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22146" y="1825625"/>
            <a:ext cx="5947707" cy="4351338"/>
          </a:xfrm>
          <a:prstGeom prst="rect">
            <a:avLst/>
          </a:prstGeom>
        </p:spPr>
      </p:pic>
    </p:spTree>
    <p:extLst>
      <p:ext uri="{BB962C8B-B14F-4D97-AF65-F5344CB8AC3E}">
        <p14:creationId xmlns:p14="http://schemas.microsoft.com/office/powerpoint/2010/main" val="2330929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E2EBB-23E0-384B-8ACF-A542E097C5AC}"/>
              </a:ext>
            </a:extLst>
          </p:cNvPr>
          <p:cNvSpPr>
            <a:spLocks noGrp="1"/>
          </p:cNvSpPr>
          <p:nvPr>
            <p:ph type="title"/>
          </p:nvPr>
        </p:nvSpPr>
        <p:spPr/>
        <p:txBody>
          <a:bodyPr/>
          <a:lstStyle/>
          <a:p>
            <a:r>
              <a:rPr lang="it-IT" dirty="0">
                <a:solidFill>
                  <a:srgbClr val="FF5A36"/>
                </a:solidFill>
                <a:latin typeface="Arial Black" panose="020B0A04020102020204" pitchFamily="34" charset="0"/>
              </a:rPr>
              <a:t>How </a:t>
            </a:r>
            <a:r>
              <a:rPr lang="it-IT" dirty="0" err="1">
                <a:solidFill>
                  <a:srgbClr val="FF5A36"/>
                </a:solidFill>
                <a:latin typeface="Arial Black" panose="020B0A04020102020204" pitchFamily="34" charset="0"/>
              </a:rPr>
              <a:t>persistance</a:t>
            </a:r>
            <a:r>
              <a:rPr lang="it-IT" dirty="0">
                <a:solidFill>
                  <a:srgbClr val="FF5A36"/>
                </a:solidFill>
                <a:latin typeface="Arial Black" panose="020B0A04020102020204" pitchFamily="34" charset="0"/>
              </a:rPr>
              <a:t> </a:t>
            </a:r>
            <a:r>
              <a:rPr lang="it-IT" dirty="0" err="1">
                <a:solidFill>
                  <a:srgbClr val="FF5A36"/>
                </a:solidFill>
                <a:latin typeface="Arial Black" panose="020B0A04020102020204" pitchFamily="34" charset="0"/>
              </a:rPr>
              <a:t>is</a:t>
            </a:r>
            <a:r>
              <a:rPr lang="it-IT" dirty="0">
                <a:solidFill>
                  <a:srgbClr val="FF5A36"/>
                </a:solidFill>
                <a:latin typeface="Arial Black" panose="020B0A04020102020204" pitchFamily="34" charset="0"/>
              </a:rPr>
              <a:t> </a:t>
            </a:r>
            <a:r>
              <a:rPr lang="it-IT" dirty="0" err="1">
                <a:solidFill>
                  <a:srgbClr val="FF5A36"/>
                </a:solidFill>
                <a:latin typeface="Arial Black" panose="020B0A04020102020204" pitchFamily="34" charset="0"/>
              </a:rPr>
              <a:t>guaranteed</a:t>
            </a:r>
            <a:endParaRPr lang="it-IT" dirty="0">
              <a:solidFill>
                <a:srgbClr val="FF5A36"/>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790D32FF-F51A-EF69-F0C9-5DB322087017}"/>
              </a:ext>
            </a:extLst>
          </p:cNvPr>
          <p:cNvSpPr>
            <a:spLocks noGrp="1"/>
          </p:cNvSpPr>
          <p:nvPr>
            <p:ph idx="1"/>
          </p:nvPr>
        </p:nvSpPr>
        <p:spPr/>
        <p:txBody>
          <a:bodyPr/>
          <a:lstStyle/>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Database: SQLite.</a:t>
            </a: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Storage: Docker Shared Volumes (/data/</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rules.db</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Benefits: Rule Engine and API share the same physical memory, surviving container crashes.</a:t>
            </a: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58357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BAE39-92B7-C8EE-E6C7-2281DC63C6E1}"/>
              </a:ext>
            </a:extLst>
          </p:cNvPr>
          <p:cNvSpPr>
            <a:spLocks noGrp="1"/>
          </p:cNvSpPr>
          <p:nvPr>
            <p:ph type="title"/>
          </p:nvPr>
        </p:nvSpPr>
        <p:spPr/>
        <p:txBody>
          <a:bodyPr/>
          <a:lstStyle/>
          <a:p>
            <a:r>
              <a:rPr lang="it-IT" dirty="0">
                <a:solidFill>
                  <a:srgbClr val="FF5A36"/>
                </a:solidFill>
                <a:latin typeface="Arial Black" panose="020B0A04020102020204" pitchFamily="34" charset="0"/>
              </a:rPr>
              <a:t>Core component 1 - </a:t>
            </a:r>
            <a:r>
              <a:rPr lang="it-IT" dirty="0" err="1">
                <a:solidFill>
                  <a:srgbClr val="FF5A36"/>
                </a:solidFill>
                <a:latin typeface="Arial Black" panose="020B0A04020102020204" pitchFamily="34" charset="0"/>
              </a:rPr>
              <a:t>Ingestion</a:t>
            </a:r>
            <a:endParaRPr lang="it-IT" dirty="0">
              <a:solidFill>
                <a:srgbClr val="FF5A36"/>
              </a:solidFill>
              <a:latin typeface="Arial Black" panose="020B0A04020102020204" pitchFamily="34" charset="0"/>
            </a:endParaRPr>
          </a:p>
        </p:txBody>
      </p:sp>
      <p:sp>
        <p:nvSpPr>
          <p:cNvPr id="3" name="Content Placeholder 2">
            <a:extLst>
              <a:ext uri="{FF2B5EF4-FFF2-40B4-BE49-F238E27FC236}">
                <a16:creationId xmlns:a16="http://schemas.microsoft.com/office/drawing/2014/main" id="{74A2CB40-1EF6-FA85-440A-490E0F9F8369}"/>
              </a:ext>
            </a:extLst>
          </p:cNvPr>
          <p:cNvSpPr>
            <a:spLocks noGrp="1"/>
          </p:cNvSpPr>
          <p:nvPr>
            <p:ph idx="1"/>
          </p:nvPr>
        </p:nvSpPr>
        <p:spPr/>
        <p:txBody>
          <a:bodyPr/>
          <a:lstStyle/>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Component: producer.py</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Task: The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Dumb</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Pipe". Fetches data via REST polling.</a:t>
            </a:r>
          </a:p>
          <a:p>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Output: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Injects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raw</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untouched</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JSONs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into</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the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raw_events</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RabbitMQ</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queue</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17188224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A3DDE-EC8A-30D1-054C-0B998ADD2E5E}"/>
              </a:ext>
            </a:extLst>
          </p:cNvPr>
          <p:cNvSpPr>
            <a:spLocks noGrp="1"/>
          </p:cNvSpPr>
          <p:nvPr>
            <p:ph type="title"/>
          </p:nvPr>
        </p:nvSpPr>
        <p:spPr/>
        <p:txBody>
          <a:bodyPr/>
          <a:lstStyle/>
          <a:p>
            <a:r>
              <a:rPr lang="it-IT" dirty="0">
                <a:solidFill>
                  <a:srgbClr val="FF5A36"/>
                </a:solidFill>
                <a:latin typeface="Arial Black" panose="020B0A04020102020204" pitchFamily="34" charset="0"/>
              </a:rPr>
              <a:t>Core component 2 - Processing</a:t>
            </a:r>
          </a:p>
        </p:txBody>
      </p:sp>
      <p:sp>
        <p:nvSpPr>
          <p:cNvPr id="3" name="Content Placeholder 2">
            <a:extLst>
              <a:ext uri="{FF2B5EF4-FFF2-40B4-BE49-F238E27FC236}">
                <a16:creationId xmlns:a16="http://schemas.microsoft.com/office/drawing/2014/main" id="{579982B8-EFA3-2590-365A-E1E76C79949A}"/>
              </a:ext>
            </a:extLst>
          </p:cNvPr>
          <p:cNvSpPr>
            <a:spLocks noGrp="1"/>
          </p:cNvSpPr>
          <p:nvPr>
            <p:ph idx="1"/>
          </p:nvPr>
        </p:nvSpPr>
        <p:spPr/>
        <p:txBody>
          <a:bodyPr/>
          <a:lstStyle/>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Normalizer: Translates chaotic JSONs into the Standard Event Schema.</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Rule Engine: Listens to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rule_events</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queries SQLite, and evaluates math logic (e.g., value &gt; threshold).</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Action: Triggers Actuators via POST requests.</a:t>
            </a: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93781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9EE95A-9ECB-F760-DC28-A5B2252B2A62}"/>
              </a:ext>
            </a:extLst>
          </p:cNvPr>
          <p:cNvSpPr>
            <a:spLocks noGrp="1"/>
          </p:cNvSpPr>
          <p:nvPr>
            <p:ph type="title"/>
          </p:nvPr>
        </p:nvSpPr>
        <p:spPr/>
        <p:txBody>
          <a:bodyPr/>
          <a:lstStyle/>
          <a:p>
            <a:r>
              <a:rPr lang="it-IT" dirty="0">
                <a:solidFill>
                  <a:srgbClr val="FF5A36"/>
                </a:solidFill>
                <a:latin typeface="Arial Black" panose="020B0A04020102020204" pitchFamily="34" charset="0"/>
              </a:rPr>
              <a:t>Core component 3 – API &amp; UI</a:t>
            </a:r>
          </a:p>
        </p:txBody>
      </p:sp>
      <p:sp>
        <p:nvSpPr>
          <p:cNvPr id="3" name="Content Placeholder 2">
            <a:extLst>
              <a:ext uri="{FF2B5EF4-FFF2-40B4-BE49-F238E27FC236}">
                <a16:creationId xmlns:a16="http://schemas.microsoft.com/office/drawing/2014/main" id="{5E101B9D-8ED9-C7D7-8C81-1F358CCB1FDF}"/>
              </a:ext>
            </a:extLst>
          </p:cNvPr>
          <p:cNvSpPr>
            <a:spLocks noGrp="1"/>
          </p:cNvSpPr>
          <p:nvPr>
            <p:ph idx="1"/>
          </p:nvPr>
        </p:nvSpPr>
        <p:spPr/>
        <p:txBody>
          <a:bodyPr/>
          <a:lstStyle/>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Backend: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FastAPI</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for high-performance REST endpoints.</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State Memory: Maintains a </a:t>
            </a:r>
            <a:r>
              <a:rPr lang="en-US" dirty="0" err="1">
                <a:solidFill>
                  <a:schemeClr val="bg1"/>
                </a:solidFill>
                <a:latin typeface="Calibri" panose="020F0502020204030204" pitchFamily="34" charset="0"/>
                <a:ea typeface="Calibri" panose="020F0502020204030204" pitchFamily="34" charset="0"/>
                <a:cs typeface="Calibri" panose="020F0502020204030204" pitchFamily="34" charset="0"/>
              </a:rPr>
              <a:t>latest_state</a:t>
            </a:r>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 dictionary in RAM for zero-latency UI updates.</a:t>
            </a:r>
          </a:p>
          <a:p>
            <a:endParaRPr lang="en-US"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r>
              <a:rPr lang="en-US" dirty="0">
                <a:solidFill>
                  <a:schemeClr val="bg1"/>
                </a:solidFill>
                <a:latin typeface="Calibri" panose="020F0502020204030204" pitchFamily="34" charset="0"/>
                <a:ea typeface="Calibri" panose="020F0502020204030204" pitchFamily="34" charset="0"/>
                <a:cs typeface="Calibri" panose="020F0502020204030204" pitchFamily="34" charset="0"/>
              </a:rPr>
              <a:t>Frontend: Real-time Dashboard for operators.</a:t>
            </a: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10303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45925-C3DC-8186-CFFB-3A194EC46FA7}"/>
              </a:ext>
            </a:extLst>
          </p:cNvPr>
          <p:cNvSpPr>
            <a:spLocks noGrp="1"/>
          </p:cNvSpPr>
          <p:nvPr>
            <p:ph type="title"/>
          </p:nvPr>
        </p:nvSpPr>
        <p:spPr/>
        <p:txBody>
          <a:bodyPr/>
          <a:lstStyle/>
          <a:p>
            <a:r>
              <a:rPr lang="it-IT" dirty="0">
                <a:solidFill>
                  <a:srgbClr val="FF5A36"/>
                </a:solidFill>
                <a:latin typeface="Arial Black" panose="020B0A04020102020204" pitchFamily="34" charset="0"/>
              </a:rPr>
              <a:t>Live demo</a:t>
            </a:r>
          </a:p>
        </p:txBody>
      </p:sp>
      <p:sp>
        <p:nvSpPr>
          <p:cNvPr id="3" name="Content Placeholder 2">
            <a:extLst>
              <a:ext uri="{FF2B5EF4-FFF2-40B4-BE49-F238E27FC236}">
                <a16:creationId xmlns:a16="http://schemas.microsoft.com/office/drawing/2014/main" id="{BC52B668-575F-4044-D31D-1781D0D1B126}"/>
              </a:ext>
            </a:extLst>
          </p:cNvPr>
          <p:cNvSpPr>
            <a:spLocks noGrp="1"/>
          </p:cNvSpPr>
          <p:nvPr>
            <p:ph idx="1"/>
          </p:nvPr>
        </p:nvSpPr>
        <p:spPr/>
        <p:txBody>
          <a:bodyPr>
            <a:normAutofit/>
          </a:bodyPr>
          <a:lstStyle/>
          <a:p>
            <a:pPr marL="0" indent="0" algn="ctr">
              <a:buNone/>
            </a:pPr>
            <a:endParaRPr lang="it-IT"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ctr">
              <a:buNone/>
            </a:pPr>
            <a:r>
              <a:rPr lang="it-IT" b="1" dirty="0" err="1">
                <a:solidFill>
                  <a:schemeClr val="bg1"/>
                </a:solidFill>
                <a:latin typeface="Calibri" panose="020F0502020204030204" pitchFamily="34" charset="0"/>
                <a:ea typeface="Calibri" panose="020F0502020204030204" pitchFamily="34" charset="0"/>
                <a:cs typeface="Calibri" panose="020F0502020204030204" pitchFamily="34" charset="0"/>
              </a:rPr>
              <a:t>Now</a:t>
            </a:r>
            <a:r>
              <a:rPr lang="it-IT"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b="1" dirty="0" err="1">
                <a:solidFill>
                  <a:schemeClr val="bg1"/>
                </a:solidFill>
                <a:latin typeface="Calibri" panose="020F0502020204030204" pitchFamily="34" charset="0"/>
                <a:ea typeface="Calibri" panose="020F0502020204030204" pitchFamily="34" charset="0"/>
                <a:cs typeface="Calibri" panose="020F0502020204030204" pitchFamily="34" charset="0"/>
              </a:rPr>
              <a:t>we’ll</a:t>
            </a:r>
            <a:r>
              <a:rPr lang="it-IT" b="1"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b="1" dirty="0" err="1">
                <a:solidFill>
                  <a:schemeClr val="bg1"/>
                </a:solidFill>
                <a:latin typeface="Calibri" panose="020F0502020204030204" pitchFamily="34" charset="0"/>
                <a:ea typeface="Calibri" panose="020F0502020204030204" pitchFamily="34" charset="0"/>
                <a:cs typeface="Calibri" panose="020F0502020204030204" pitchFamily="34" charset="0"/>
              </a:rPr>
              <a:t>run</a:t>
            </a:r>
            <a:r>
              <a:rPr lang="it-IT" b="1" dirty="0">
                <a:solidFill>
                  <a:schemeClr val="bg1"/>
                </a:solidFill>
                <a:latin typeface="Calibri" panose="020F0502020204030204" pitchFamily="34" charset="0"/>
                <a:ea typeface="Calibri" panose="020F0502020204030204" pitchFamily="34" charset="0"/>
                <a:cs typeface="Calibri" panose="020F0502020204030204" pitchFamily="34" charset="0"/>
              </a:rPr>
              <a:t> the system and use </a:t>
            </a:r>
            <a:r>
              <a:rPr lang="it-IT" b="1" dirty="0" err="1">
                <a:solidFill>
                  <a:schemeClr val="bg1"/>
                </a:solidFill>
                <a:latin typeface="Calibri" panose="020F0502020204030204" pitchFamily="34" charset="0"/>
                <a:ea typeface="Calibri" panose="020F0502020204030204" pitchFamily="34" charset="0"/>
                <a:cs typeface="Calibri" panose="020F0502020204030204" pitchFamily="34" charset="0"/>
              </a:rPr>
              <a:t>it</a:t>
            </a:r>
            <a:r>
              <a:rPr lang="it-IT" b="1" dirty="0">
                <a:solidFill>
                  <a:schemeClr val="bg1"/>
                </a:solidFill>
                <a:latin typeface="Calibri" panose="020F0502020204030204" pitchFamily="34" charset="0"/>
                <a:ea typeface="Calibri" panose="020F0502020204030204" pitchFamily="34" charset="0"/>
                <a:cs typeface="Calibri" panose="020F0502020204030204" pitchFamily="34" charset="0"/>
              </a:rPr>
              <a:t> live</a:t>
            </a:r>
          </a:p>
          <a:p>
            <a:pPr marL="0" indent="0" algn="ctr">
              <a:buNone/>
            </a:pPr>
            <a:endParaRPr lang="it-IT"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ctr">
              <a:buNone/>
            </a:pPr>
            <a:endParaRPr lang="it-IT"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ctr">
              <a:buNone/>
            </a:pP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Project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available</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 </a:t>
            </a:r>
            <a:r>
              <a:rPr lang="it-IT" dirty="0" err="1">
                <a:solidFill>
                  <a:schemeClr val="bg1"/>
                </a:solidFill>
                <a:latin typeface="Calibri" panose="020F0502020204030204" pitchFamily="34" charset="0"/>
                <a:ea typeface="Calibri" panose="020F0502020204030204" pitchFamily="34" charset="0"/>
                <a:cs typeface="Calibri" panose="020F0502020204030204" pitchFamily="34" charset="0"/>
              </a:rPr>
              <a:t>at</a:t>
            </a:r>
            <a:r>
              <a:rPr lang="it-IT" dirty="0">
                <a:solidFill>
                  <a:schemeClr val="bg1"/>
                </a:solidFill>
                <a:latin typeface="Calibri" panose="020F0502020204030204" pitchFamily="34" charset="0"/>
                <a:ea typeface="Calibri" panose="020F0502020204030204" pitchFamily="34" charset="0"/>
                <a:cs typeface="Calibri" panose="020F0502020204030204" pitchFamily="34" charset="0"/>
              </a:rPr>
              <a:t>:</a:t>
            </a:r>
          </a:p>
          <a:p>
            <a:pPr marL="0" indent="0" algn="ctr">
              <a:buNone/>
            </a:pPr>
            <a:endParaRPr lang="it-IT" b="1" dirty="0">
              <a:solidFill>
                <a:schemeClr val="bg1"/>
              </a:solidFill>
              <a:latin typeface="Calibri" panose="020F0502020204030204" pitchFamily="34" charset="0"/>
              <a:ea typeface="Calibri" panose="020F0502020204030204" pitchFamily="34" charset="0"/>
              <a:cs typeface="Calibri" panose="020F0502020204030204" pitchFamily="34" charset="0"/>
            </a:endParaRPr>
          </a:p>
          <a:p>
            <a:pPr marL="0" indent="0" algn="ctr">
              <a:buNone/>
            </a:pPr>
            <a:r>
              <a:rPr lang="it-IT" b="1" dirty="0">
                <a:solidFill>
                  <a:schemeClr val="bg1"/>
                </a:solidFill>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https://github.com/abdulkader2230150-creator/2230150_promptEngineers</a:t>
            </a:r>
            <a:endParaRPr lang="it-IT" b="1" dirty="0">
              <a:solidFill>
                <a:schemeClr val="bg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1001283"/>
      </p:ext>
    </p:extLst>
  </p:cSld>
  <p:clrMapOvr>
    <a:masterClrMapping/>
  </p:clrMapOvr>
</p:sld>
</file>

<file path=ppt/theme/theme1.xml><?xml version="1.0" encoding="utf-8"?>
<a:theme xmlns:a="http://schemas.openxmlformats.org/drawingml/2006/main" name="Office Theme">
  <a:themeElements>
    <a:clrScheme name="Gre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424</TotalTime>
  <Words>1452</Words>
  <Application>Microsoft Office PowerPoint</Application>
  <PresentationFormat>Widescreen</PresentationFormat>
  <Paragraphs>154</Paragraphs>
  <Slides>20</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Arial Black</vt:lpstr>
      <vt:lpstr>Calibri</vt:lpstr>
      <vt:lpstr>Office Theme</vt:lpstr>
      <vt:lpstr>“Welcome to Mars. Please Don’t Die.”</vt:lpstr>
      <vt:lpstr>TABLE OF CONTENTS</vt:lpstr>
      <vt:lpstr>Challenges</vt:lpstr>
      <vt:lpstr>Technical goals</vt:lpstr>
      <vt:lpstr>Workflow</vt:lpstr>
      <vt:lpstr>User stories samples</vt:lpstr>
      <vt:lpstr>User stories samples</vt:lpstr>
      <vt:lpstr>User stories samples</vt:lpstr>
      <vt:lpstr>Mock-up</vt:lpstr>
      <vt:lpstr>Rule and event schemas</vt:lpstr>
      <vt:lpstr>Architectural constraints</vt:lpstr>
      <vt:lpstr>Architecture – High level</vt:lpstr>
      <vt:lpstr>Architecture - Detailed</vt:lpstr>
      <vt:lpstr>Architecture – Sequence Diagram</vt:lpstr>
      <vt:lpstr>Architecture - Dockerization</vt:lpstr>
      <vt:lpstr>How persistance is guaranteed</vt:lpstr>
      <vt:lpstr>Core component 1 - Ingestion</vt:lpstr>
      <vt:lpstr>Core component 2 - Processing</vt:lpstr>
      <vt:lpstr>Core component 3 – API &amp; UI</vt:lpstr>
      <vt:lpstr>Live demo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leonardo marasca</dc:creator>
  <cp:lastModifiedBy>leonardo marasca</cp:lastModifiedBy>
  <cp:revision>47</cp:revision>
  <dcterms:created xsi:type="dcterms:W3CDTF">2026-03-07T16:45:48Z</dcterms:created>
  <dcterms:modified xsi:type="dcterms:W3CDTF">2026-03-09T15:44:35Z</dcterms:modified>
</cp:coreProperties>
</file>